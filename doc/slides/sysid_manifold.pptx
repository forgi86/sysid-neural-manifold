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4"/>
  </p:sldMasterIdLst>
  <p:notesMasterIdLst>
    <p:notesMasterId r:id="rId19"/>
  </p:notesMasterIdLst>
  <p:handoutMasterIdLst>
    <p:handoutMasterId r:id="rId20"/>
  </p:handoutMasterIdLst>
  <p:sldIdLst>
    <p:sldId id="258" r:id="rId5"/>
    <p:sldId id="260" r:id="rId6"/>
    <p:sldId id="268" r:id="rId7"/>
    <p:sldId id="276" r:id="rId8"/>
    <p:sldId id="261" r:id="rId9"/>
    <p:sldId id="262" r:id="rId10"/>
    <p:sldId id="265" r:id="rId11"/>
    <p:sldId id="267" r:id="rId12"/>
    <p:sldId id="269" r:id="rId13"/>
    <p:sldId id="272" r:id="rId14"/>
    <p:sldId id="271" r:id="rId15"/>
    <p:sldId id="274" r:id="rId16"/>
    <p:sldId id="275" r:id="rId17"/>
    <p:sldId id="270" r:id="rId18"/>
  </p:sldIdLst>
  <p:sldSz cx="12192000" cy="6858000"/>
  <p:notesSz cx="6858000" cy="9144000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2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37A4CD-4DF2-4947-AC80-123E7067DA84}" v="6" dt="2025-01-07T16:53:26.3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78"/>
    <p:restoredTop sz="94681"/>
  </p:normalViewPr>
  <p:slideViewPr>
    <p:cSldViewPr>
      <p:cViewPr varScale="1">
        <p:scale>
          <a:sx n="112" d="100"/>
          <a:sy n="112" d="100"/>
        </p:scale>
        <p:origin x="22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zzimonti Laura" userId="S::laura.azzimonti@supsi.ch::b4b2acc1-6682-4632-8cb9-1858c2421f2c" providerId="AD" clId="Web-{DE92A7D3-08E8-4A9D-B56A-2A89BD0D3034}"/>
    <pc:docChg chg="modSld">
      <pc:chgData name="Azzimonti Laura" userId="S::laura.azzimonti@supsi.ch::b4b2acc1-6682-4632-8cb9-1858c2421f2c" providerId="AD" clId="Web-{DE92A7D3-08E8-4A9D-B56A-2A89BD0D3034}" dt="2024-12-18T09:38:30.818" v="3" actId="20577"/>
      <pc:docMkLst>
        <pc:docMk/>
      </pc:docMkLst>
      <pc:sldChg chg="modSp">
        <pc:chgData name="Azzimonti Laura" userId="S::laura.azzimonti@supsi.ch::b4b2acc1-6682-4632-8cb9-1858c2421f2c" providerId="AD" clId="Web-{DE92A7D3-08E8-4A9D-B56A-2A89BD0D3034}" dt="2024-12-18T09:38:30.818" v="3" actId="20577"/>
        <pc:sldMkLst>
          <pc:docMk/>
          <pc:sldMk cId="1430524483" sldId="259"/>
        </pc:sldMkLst>
        <pc:spChg chg="mod">
          <ac:chgData name="Azzimonti Laura" userId="S::laura.azzimonti@supsi.ch::b4b2acc1-6682-4632-8cb9-1858c2421f2c" providerId="AD" clId="Web-{DE92A7D3-08E8-4A9D-B56A-2A89BD0D3034}" dt="2024-12-18T09:38:30.818" v="3" actId="20577"/>
          <ac:spMkLst>
            <pc:docMk/>
            <pc:sldMk cId="1430524483" sldId="259"/>
            <ac:spMk id="2" creationId="{44E5F9FC-F866-BB65-58D8-D66B45F390B1}"/>
          </ac:spMkLst>
        </pc:spChg>
      </pc:sldChg>
    </pc:docChg>
  </pc:docChgLst>
  <pc:docChgLst>
    <pc:chgData name="Damato Stefano" userId="S::stefano.damato@supsi.ch::f5b3f942-0c39-4d67-8b5e-f42f5670fc74" providerId="AD" clId="Web-{D1932814-65AA-736B-869B-967A8EC7CD2B}"/>
    <pc:docChg chg="addSld">
      <pc:chgData name="Damato Stefano" userId="S::stefano.damato@supsi.ch::f5b3f942-0c39-4d67-8b5e-f42f5670fc74" providerId="AD" clId="Web-{D1932814-65AA-736B-869B-967A8EC7CD2B}" dt="2024-11-25T10:32:27.957" v="0"/>
      <pc:docMkLst>
        <pc:docMk/>
      </pc:docMkLst>
      <pc:sldChg chg="new">
        <pc:chgData name="Damato Stefano" userId="S::stefano.damato@supsi.ch::f5b3f942-0c39-4d67-8b5e-f42f5670fc74" providerId="AD" clId="Web-{D1932814-65AA-736B-869B-967A8EC7CD2B}" dt="2024-11-25T10:32:27.957" v="0"/>
        <pc:sldMkLst>
          <pc:docMk/>
          <pc:sldMk cId="1430524483" sldId="259"/>
        </pc:sldMkLst>
      </pc:sldChg>
    </pc:docChg>
  </pc:docChgLst>
  <pc:docChgLst>
    <pc:chgData name="Rizzoli Andrea Emilio" userId="523b90ee-9839-4c35-98ef-3e260edd4d9a" providerId="ADAL" clId="{3537A4CD-4DF2-4947-AC80-123E7067DA84}"/>
    <pc:docChg chg="addSld delSld modSld">
      <pc:chgData name="Rizzoli Andrea Emilio" userId="523b90ee-9839-4c35-98ef-3e260edd4d9a" providerId="ADAL" clId="{3537A4CD-4DF2-4947-AC80-123E7067DA84}" dt="2025-01-13T12:37:22.708" v="156" actId="20577"/>
      <pc:docMkLst>
        <pc:docMk/>
      </pc:docMkLst>
      <pc:sldChg chg="modSp mod">
        <pc:chgData name="Rizzoli Andrea Emilio" userId="523b90ee-9839-4c35-98ef-3e260edd4d9a" providerId="ADAL" clId="{3537A4CD-4DF2-4947-AC80-123E7067DA84}" dt="2025-01-13T12:37:06.156" v="135" actId="20577"/>
        <pc:sldMkLst>
          <pc:docMk/>
          <pc:sldMk cId="0" sldId="258"/>
        </pc:sldMkLst>
        <pc:spChg chg="mod">
          <ac:chgData name="Rizzoli Andrea Emilio" userId="523b90ee-9839-4c35-98ef-3e260edd4d9a" providerId="ADAL" clId="{3537A4CD-4DF2-4947-AC80-123E7067DA84}" dt="2025-01-13T12:37:06.156" v="135" actId="20577"/>
          <ac:spMkLst>
            <pc:docMk/>
            <pc:sldMk cId="0" sldId="258"/>
            <ac:spMk id="16386" creationId="{00000000-0000-0000-0000-000000000000}"/>
          </ac:spMkLst>
        </pc:spChg>
      </pc:sldChg>
      <pc:sldChg chg="modSp mod">
        <pc:chgData name="Rizzoli Andrea Emilio" userId="523b90ee-9839-4c35-98ef-3e260edd4d9a" providerId="ADAL" clId="{3537A4CD-4DF2-4947-AC80-123E7067DA84}" dt="2025-01-13T12:37:22.708" v="156" actId="20577"/>
        <pc:sldMkLst>
          <pc:docMk/>
          <pc:sldMk cId="1430524483" sldId="259"/>
        </pc:sldMkLst>
        <pc:spChg chg="mod">
          <ac:chgData name="Rizzoli Andrea Emilio" userId="523b90ee-9839-4c35-98ef-3e260edd4d9a" providerId="ADAL" clId="{3537A4CD-4DF2-4947-AC80-123E7067DA84}" dt="2025-01-13T12:37:14.413" v="147" actId="20577"/>
          <ac:spMkLst>
            <pc:docMk/>
            <pc:sldMk cId="1430524483" sldId="259"/>
            <ac:spMk id="2" creationId="{44E5F9FC-F866-BB65-58D8-D66B45F390B1}"/>
          </ac:spMkLst>
        </pc:spChg>
        <pc:spChg chg="mod">
          <ac:chgData name="Rizzoli Andrea Emilio" userId="523b90ee-9839-4c35-98ef-3e260edd4d9a" providerId="ADAL" clId="{3537A4CD-4DF2-4947-AC80-123E7067DA84}" dt="2025-01-13T12:37:22.708" v="156" actId="20577"/>
          <ac:spMkLst>
            <pc:docMk/>
            <pc:sldMk cId="1430524483" sldId="259"/>
            <ac:spMk id="3" creationId="{F2B05CF2-6073-6C99-1D2C-B5E2D56EC15F}"/>
          </ac:spMkLst>
        </pc:spChg>
      </pc:sldChg>
      <pc:sldChg chg="addSp delSp modSp add del">
        <pc:chgData name="Rizzoli Andrea Emilio" userId="523b90ee-9839-4c35-98ef-3e260edd4d9a" providerId="ADAL" clId="{3537A4CD-4DF2-4947-AC80-123E7067DA84}" dt="2025-01-13T12:37:17.065" v="148" actId="2696"/>
        <pc:sldMkLst>
          <pc:docMk/>
          <pc:sldMk cId="0" sldId="262"/>
        </pc:sldMkLst>
        <pc:spChg chg="add mod">
          <ac:chgData name="Rizzoli Andrea Emilio" userId="523b90ee-9839-4c35-98ef-3e260edd4d9a" providerId="ADAL" clId="{3537A4CD-4DF2-4947-AC80-123E7067DA84}" dt="2025-01-07T16:53:05.040" v="126" actId="478"/>
          <ac:spMkLst>
            <pc:docMk/>
            <pc:sldMk cId="0" sldId="262"/>
            <ac:spMk id="2" creationId="{3F560603-4DF4-561D-5B3E-8D1A58791F0B}"/>
          </ac:spMkLst>
        </pc:spChg>
      </pc:sldChg>
      <pc:sldChg chg="addSp delSp modSp add del">
        <pc:chgData name="Rizzoli Andrea Emilio" userId="523b90ee-9839-4c35-98ef-3e260edd4d9a" providerId="ADAL" clId="{3537A4CD-4DF2-4947-AC80-123E7067DA84}" dt="2025-01-13T12:37:17.070" v="149" actId="2696"/>
        <pc:sldMkLst>
          <pc:docMk/>
          <pc:sldMk cId="0" sldId="263"/>
        </pc:sldMkLst>
        <pc:spChg chg="add mod">
          <ac:chgData name="Rizzoli Andrea Emilio" userId="523b90ee-9839-4c35-98ef-3e260edd4d9a" providerId="ADAL" clId="{3537A4CD-4DF2-4947-AC80-123E7067DA84}" dt="2025-01-07T16:53:13.555" v="127" actId="478"/>
          <ac:spMkLst>
            <pc:docMk/>
            <pc:sldMk cId="0" sldId="263"/>
            <ac:spMk id="2" creationId="{B09081F8-37A3-6884-4805-116E7481E7DA}"/>
          </ac:spMkLst>
        </pc:spChg>
      </pc:sldChg>
      <pc:sldChg chg="addSp delSp modSp add del">
        <pc:chgData name="Rizzoli Andrea Emilio" userId="523b90ee-9839-4c35-98ef-3e260edd4d9a" providerId="ADAL" clId="{3537A4CD-4DF2-4947-AC80-123E7067DA84}" dt="2025-01-13T12:37:17.074" v="150" actId="2696"/>
        <pc:sldMkLst>
          <pc:docMk/>
          <pc:sldMk cId="0" sldId="264"/>
        </pc:sldMkLst>
        <pc:spChg chg="add mod">
          <ac:chgData name="Rizzoli Andrea Emilio" userId="523b90ee-9839-4c35-98ef-3e260edd4d9a" providerId="ADAL" clId="{3537A4CD-4DF2-4947-AC80-123E7067DA84}" dt="2025-01-07T16:53:20.596" v="128" actId="478"/>
          <ac:spMkLst>
            <pc:docMk/>
            <pc:sldMk cId="0" sldId="264"/>
            <ac:spMk id="2" creationId="{D7CB4B04-983F-4BBA-1AAF-EFAE9CB95FF8}"/>
          </ac:spMkLst>
        </pc:spChg>
      </pc:sldChg>
      <pc:sldChg chg="addSp delSp modSp add del">
        <pc:chgData name="Rizzoli Andrea Emilio" userId="523b90ee-9839-4c35-98ef-3e260edd4d9a" providerId="ADAL" clId="{3537A4CD-4DF2-4947-AC80-123E7067DA84}" dt="2025-01-13T12:37:17.076" v="151" actId="2696"/>
        <pc:sldMkLst>
          <pc:docMk/>
          <pc:sldMk cId="0" sldId="265"/>
        </pc:sldMkLst>
        <pc:spChg chg="add mod">
          <ac:chgData name="Rizzoli Andrea Emilio" userId="523b90ee-9839-4c35-98ef-3e260edd4d9a" providerId="ADAL" clId="{3537A4CD-4DF2-4947-AC80-123E7067DA84}" dt="2025-01-07T16:53:26.399" v="129" actId="478"/>
          <ac:spMkLst>
            <pc:docMk/>
            <pc:sldMk cId="0" sldId="265"/>
            <ac:spMk id="2" creationId="{FB12995D-6440-DB99-C8A6-69D398492C3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7AF82F7-3B33-6D48-9626-CABC5CBE1A55}" type="datetime1">
              <a:rPr lang="it-IT" altLang="x-none"/>
              <a:pPr/>
              <a:t>08/04/25</a:t>
            </a:fld>
            <a:endParaRPr lang="it-IT" altLang="x-non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3183107-877A-3843-B981-15C7FF01828C}" type="slidenum">
              <a:rPr lang="it-IT" altLang="x-none"/>
              <a:pPr/>
              <a:t>‹#›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Click to edit Master text styles</a:t>
            </a:r>
          </a:p>
          <a:p>
            <a:pPr lvl="1"/>
            <a:r>
              <a:rPr lang="it-IT" noProof="0"/>
              <a:t>Second level</a:t>
            </a:r>
          </a:p>
          <a:p>
            <a:pPr lvl="2"/>
            <a:r>
              <a:rPr lang="it-IT" noProof="0"/>
              <a:t>Third level</a:t>
            </a:r>
          </a:p>
          <a:p>
            <a:pPr lvl="3"/>
            <a:r>
              <a:rPr lang="it-IT" noProof="0"/>
              <a:t>Fourth level</a:t>
            </a:r>
          </a:p>
          <a:p>
            <a:pPr lvl="4"/>
            <a:r>
              <a:rPr lang="it-IT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DBE5DE3-AADE-E24A-8400-E9BC47681F7D}" type="slidenum">
              <a:rPr lang="it-IT" altLang="x-none"/>
              <a:pPr/>
              <a:t>‹#›</a:t>
            </a:fld>
            <a:endParaRPr lang="it-IT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31800" y="1773239"/>
            <a:ext cx="11328400" cy="1584325"/>
          </a:xfrm>
        </p:spPr>
        <p:txBody>
          <a:bodyPr/>
          <a:lstStyle>
            <a:lvl1pPr>
              <a:defRPr sz="480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1800" y="3357564"/>
            <a:ext cx="11328400" cy="1900237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it-IT"/>
              <a:t>Fare clic per modificare lo stile del sottotitolo dello schema</a:t>
            </a:r>
            <a:endParaRPr lang="it-IT" dirty="0"/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13"/>
          </p:nvPr>
        </p:nvSpPr>
        <p:spPr>
          <a:xfrm>
            <a:off x="435909" y="5371909"/>
            <a:ext cx="11329577" cy="952691"/>
          </a:xfrm>
        </p:spPr>
        <p:txBody>
          <a:bodyPr/>
          <a:lstStyle>
            <a:lvl1pPr algn="l">
              <a:buNone/>
              <a:defRPr sz="1800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38749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88301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31800" y="1916114"/>
            <a:ext cx="5562600" cy="432117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916114"/>
            <a:ext cx="5562600" cy="432117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64793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1126800"/>
            <a:ext cx="11379200" cy="579438"/>
          </a:xfrm>
        </p:spPr>
        <p:txBody>
          <a:bodyPr/>
          <a:lstStyle>
            <a:lvl1pPr>
              <a:defRPr sz="240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06400" y="1752600"/>
            <a:ext cx="5590117" cy="639762"/>
          </a:xfrm>
        </p:spPr>
        <p:txBody>
          <a:bodyPr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06400" y="2438400"/>
            <a:ext cx="5590117" cy="368776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8" y="1752600"/>
            <a:ext cx="5592233" cy="639762"/>
          </a:xfrm>
        </p:spPr>
        <p:txBody>
          <a:bodyPr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8" y="2438400"/>
            <a:ext cx="5592233" cy="36877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buNone/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17226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7999" y="1125539"/>
            <a:ext cx="11355023" cy="719137"/>
          </a:xfrm>
        </p:spPr>
        <p:txBody>
          <a:bodyPr/>
          <a:lstStyle>
            <a:lvl1pPr>
              <a:defRPr sz="240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</p:spTree>
    <p:extLst>
      <p:ext uri="{BB962C8B-B14F-4D97-AF65-F5344CB8AC3E}">
        <p14:creationId xmlns:p14="http://schemas.microsoft.com/office/powerpoint/2010/main" val="206358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505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35114" y="1127797"/>
            <a:ext cx="4035287" cy="914400"/>
          </a:xfrm>
        </p:spPr>
        <p:txBody>
          <a:bodyPr/>
          <a:lstStyle>
            <a:lvl1pPr algn="l">
              <a:defRPr sz="2400" b="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4" y="1126800"/>
            <a:ext cx="6993093" cy="499552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35115" y="2133601"/>
            <a:ext cx="4035285" cy="3992563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22361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4800600"/>
            <a:ext cx="11359085" cy="566738"/>
          </a:xfrm>
        </p:spPr>
        <p:txBody>
          <a:bodyPr/>
          <a:lstStyle>
            <a:lvl1pPr algn="l">
              <a:defRPr sz="2400" b="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it-IT" noProof="0"/>
              <a:t>Trascinare l'immagine su un segnaposto o fare clic sull'icona per aggiungerla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06400" y="5367338"/>
            <a:ext cx="11359085" cy="804862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201604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6AFCF993-D11C-B448-A99B-84A5F27957B2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-6036" y="0"/>
            <a:ext cx="12192000" cy="6858000"/>
          </a:xfrm>
          <a:prstGeom prst="rect">
            <a:avLst/>
          </a:prstGeom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1800" y="1125539"/>
            <a:ext cx="113284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x-none" dirty="0"/>
              <a:t>Fare clic per modificare stile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916114"/>
            <a:ext cx="11328400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x-none"/>
              <a:t>Fare clic per modificare gli stili del testo dello schema</a:t>
            </a:r>
          </a:p>
          <a:p>
            <a:pPr lvl="1"/>
            <a:r>
              <a:rPr lang="it-IT" altLang="x-none"/>
              <a:t>Secondo livello</a:t>
            </a:r>
          </a:p>
          <a:p>
            <a:pPr lvl="2"/>
            <a:r>
              <a:rPr lang="it-IT" altLang="x-none"/>
              <a:t>Terzo livello</a:t>
            </a:r>
          </a:p>
          <a:p>
            <a:pPr lvl="3"/>
            <a:r>
              <a:rPr lang="it-IT" altLang="x-none"/>
              <a:t>Quarto livello</a:t>
            </a:r>
          </a:p>
          <a:p>
            <a:pPr lvl="4"/>
            <a:r>
              <a:rPr lang="it-IT" altLang="x-none"/>
              <a:t>Quinto livello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40" r:id="rId2"/>
    <p:sldLayoutId id="2147484141" r:id="rId3"/>
    <p:sldLayoutId id="2147484142" r:id="rId4"/>
    <p:sldLayoutId id="2147484143" r:id="rId5"/>
    <p:sldLayoutId id="2147484144" r:id="rId6"/>
    <p:sldLayoutId id="2147484145" r:id="rId7"/>
    <p:sldLayoutId id="2147484146" r:id="rId8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00B2BD"/>
          </a:solidFill>
          <a:latin typeface="+mj-lt"/>
          <a:ea typeface="ＭＳ Ｐゴシック" pitchFamily="-112" charset="-128"/>
          <a:cs typeface="ＭＳ Ｐゴシック" pitchFamily="-112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ＭＳ Ｐゴシック" pitchFamily="-112" charset="-128"/>
          <a:cs typeface="ＭＳ Ｐゴシック" pitchFamily="-112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ＭＳ Ｐゴシック" pitchFamily="-112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ＭＳ Ｐゴシック" pitchFamily="-112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ＭＳ Ｐゴシック" pitchFamily="-112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ＭＳ Ｐゴシック" pitchFamily="-112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3.xml"/><Relationship Id="rId7" Type="http://schemas.openxmlformats.org/officeDocument/2006/relationships/image" Target="../media/image3.png"/><Relationship Id="rId12" Type="http://schemas.openxmlformats.org/officeDocument/2006/relationships/image" Target="../media/image7.emf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11" Type="http://schemas.openxmlformats.org/officeDocument/2006/relationships/image" Target="../media/image6.emf"/><Relationship Id="rId5" Type="http://schemas.openxmlformats.org/officeDocument/2006/relationships/slideLayout" Target="../slideLayouts/slideLayout4.xml"/><Relationship Id="rId10" Type="http://schemas.openxmlformats.org/officeDocument/2006/relationships/image" Target="../media/image5.png"/><Relationship Id="rId4" Type="http://schemas.openxmlformats.org/officeDocument/2006/relationships/tags" Target="../tags/tag4.xml"/><Relationship Id="rId9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13" Type="http://schemas.openxmlformats.org/officeDocument/2006/relationships/image" Target="../media/image10.jpg"/><Relationship Id="rId3" Type="http://schemas.openxmlformats.org/officeDocument/2006/relationships/tags" Target="../tags/tag7.xml"/><Relationship Id="rId7" Type="http://schemas.openxmlformats.org/officeDocument/2006/relationships/image" Target="../media/image3.png"/><Relationship Id="rId12" Type="http://schemas.openxmlformats.org/officeDocument/2006/relationships/image" Target="../media/image7.emf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8.png"/><Relationship Id="rId11" Type="http://schemas.openxmlformats.org/officeDocument/2006/relationships/image" Target="../media/image6.emf"/><Relationship Id="rId5" Type="http://schemas.openxmlformats.org/officeDocument/2006/relationships/slideLayout" Target="../slideLayouts/slideLayout4.xml"/><Relationship Id="rId10" Type="http://schemas.openxmlformats.org/officeDocument/2006/relationships/image" Target="../media/image5.png"/><Relationship Id="rId4" Type="http://schemas.openxmlformats.org/officeDocument/2006/relationships/tags" Target="../tags/tag8.xml"/><Relationship Id="rId9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tags" Target="../tags/tag11.xml"/><Relationship Id="rId7" Type="http://schemas.openxmlformats.org/officeDocument/2006/relationships/image" Target="../media/image12.emf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1.emf"/><Relationship Id="rId5" Type="http://schemas.openxmlformats.org/officeDocument/2006/relationships/image" Target="../media/image80.png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6.emf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15.png"/><Relationship Id="rId5" Type="http://schemas.openxmlformats.org/officeDocument/2006/relationships/image" Target="../media/image14.emf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emf"/><Relationship Id="rId3" Type="http://schemas.openxmlformats.org/officeDocument/2006/relationships/tags" Target="../tags/tag16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20.emf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image" Target="../media/image19.emf"/><Relationship Id="rId5" Type="http://schemas.openxmlformats.org/officeDocument/2006/relationships/tags" Target="../tags/tag18.xml"/><Relationship Id="rId10" Type="http://schemas.openxmlformats.org/officeDocument/2006/relationships/image" Target="../media/image18.emf"/><Relationship Id="rId4" Type="http://schemas.openxmlformats.org/officeDocument/2006/relationships/tags" Target="../tags/tag17.xml"/><Relationship Id="rId9" Type="http://schemas.openxmlformats.org/officeDocument/2006/relationships/image" Target="../media/image17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tags" Target="../tags/tag22.xml"/><Relationship Id="rId7" Type="http://schemas.openxmlformats.org/officeDocument/2006/relationships/image" Target="../media/image23.emf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26.emf"/><Relationship Id="rId4" Type="http://schemas.openxmlformats.org/officeDocument/2006/relationships/tags" Target="../tags/tag23.xml"/><Relationship Id="rId9" Type="http://schemas.openxmlformats.org/officeDocument/2006/relationships/image" Target="../media/image25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tags" Target="../tags/tag26.xml"/><Relationship Id="rId7" Type="http://schemas.openxmlformats.org/officeDocument/2006/relationships/image" Target="../media/image30.emf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29.emf"/><Relationship Id="rId5" Type="http://schemas.openxmlformats.org/officeDocument/2006/relationships/image" Target="../media/image28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tags" Target="../tags/tag29.xml"/><Relationship Id="rId7" Type="http://schemas.openxmlformats.org/officeDocument/2006/relationships/image" Target="../media/image33.emf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26.png"/><Relationship Id="rId5" Type="http://schemas.openxmlformats.org/officeDocument/2006/relationships/hyperlink" Target="https://www.nonlinearbenchmark.org/benchmarks/bouc-wen" TargetMode="External"/><Relationship Id="rId10" Type="http://schemas.openxmlformats.org/officeDocument/2006/relationships/image" Target="../media/image36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3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6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41.emf"/><Relationship Id="rId5" Type="http://schemas.openxmlformats.org/officeDocument/2006/relationships/image" Target="../media/image40.emf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29.emf"/><Relationship Id="rId5" Type="http://schemas.openxmlformats.org/officeDocument/2006/relationships/image" Target="../media/image24.emf"/><Relationship Id="rId4" Type="http://schemas.openxmlformats.org/officeDocument/2006/relationships/image" Target="../media/image3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3600" noProof="1">
                <a:ea typeface="ＭＳ Ｐゴシック" charset="-128"/>
              </a:rPr>
              <a:t>Manifold meta-learning for reduced-complexity neural system identification</a:t>
            </a:r>
            <a:endParaRPr lang="en-US" sz="3600" noProof="1">
              <a:solidFill>
                <a:srgbClr val="00B2BD"/>
              </a:solidFill>
              <a:ea typeface="ＭＳ Ｐゴシック" charset="-128"/>
            </a:endParaRPr>
          </a:p>
        </p:txBody>
      </p:sp>
      <p:sp>
        <p:nvSpPr>
          <p:cNvPr id="16387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x-none" altLang="x-none">
              <a:ea typeface="ＭＳ Ｐゴシック" charset="-128"/>
            </a:endParaRPr>
          </a:p>
        </p:txBody>
      </p:sp>
      <p:sp>
        <p:nvSpPr>
          <p:cNvPr id="16390" name="Segnaposto testo 5"/>
          <p:cNvSpPr>
            <a:spLocks noGrp="1"/>
          </p:cNvSpPr>
          <p:nvPr>
            <p:ph type="body" sz="quarter" idx="13"/>
          </p:nvPr>
        </p:nvSpPr>
        <p:spPr>
          <a:xfrm>
            <a:off x="431800" y="5372100"/>
            <a:ext cx="11328400" cy="952500"/>
          </a:xfrm>
        </p:spPr>
        <p:txBody>
          <a:bodyPr/>
          <a:lstStyle/>
          <a:p>
            <a:r>
              <a:rPr lang="it-IT" altLang="x-none" dirty="0">
                <a:ea typeface="ＭＳ Ｐゴシック" charset="-128"/>
              </a:rPr>
              <a:t>Marco Forgione, </a:t>
            </a:r>
            <a:r>
              <a:rPr lang="it-IT" altLang="x-none" dirty="0" err="1">
                <a:ea typeface="ＭＳ Ｐゴシック" charset="-128"/>
              </a:rPr>
              <a:t>Ankush</a:t>
            </a:r>
            <a:r>
              <a:rPr lang="it-IT" altLang="x-none" dirty="0">
                <a:ea typeface="ＭＳ Ｐゴシック" charset="-128"/>
              </a:rPr>
              <a:t> </a:t>
            </a:r>
            <a:r>
              <a:rPr lang="it-IT" altLang="x-none" dirty="0" err="1">
                <a:ea typeface="ＭＳ Ｐゴシック" charset="-128"/>
              </a:rPr>
              <a:t>Chakrabarty</a:t>
            </a:r>
            <a:r>
              <a:rPr lang="it-IT" altLang="x-none" dirty="0">
                <a:ea typeface="ＭＳ Ｐゴシック" charset="-128"/>
              </a:rPr>
              <a:t>, Dario Piga, Matteo Rufolo, Alberto Bemporad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5E87652-9E4A-9E27-78EB-BB743BA0C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125539"/>
            <a:ext cx="11328400" cy="719137"/>
          </a:xfrm>
        </p:spPr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4E320E5-7A37-ACF9-9CCB-2FEC7CE93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916114"/>
            <a:ext cx="11328400" cy="4321175"/>
          </a:xfrm>
        </p:spPr>
        <p:txBody>
          <a:bodyPr/>
          <a:lstStyle/>
          <a:p>
            <a:r>
              <a:rPr lang="en-US" dirty="0"/>
              <a:t>Neural network models can effectively describe a wide variety of dynamical systems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However, they are often </a:t>
            </a:r>
            <a:r>
              <a:rPr lang="en-US" b="1" dirty="0"/>
              <a:t>overparameterized. </a:t>
            </a:r>
            <a:r>
              <a:rPr lang="en-US" dirty="0"/>
              <a:t>Training is computationally expensive and data-hungry.</a:t>
            </a:r>
          </a:p>
          <a:p>
            <a:endParaRPr lang="en-US" dirty="0"/>
          </a:p>
          <a:p>
            <a:r>
              <a:rPr lang="en-US" dirty="0"/>
              <a:t>We aim at </a:t>
            </a:r>
            <a:r>
              <a:rPr lang="en-US" b="1" dirty="0"/>
              <a:t>discovering a manifold</a:t>
            </a:r>
            <a:r>
              <a:rPr lang="en-US" dirty="0"/>
              <a:t> where the parameters lie </a:t>
            </a:r>
            <a:r>
              <a:rPr lang="en-US" b="1" dirty="0"/>
              <a:t>for a class of systems</a:t>
            </a:r>
          </a:p>
          <a:p>
            <a:endParaRPr lang="en-US" b="1" dirty="0"/>
          </a:p>
          <a:p>
            <a:r>
              <a:rPr lang="en-US" dirty="0"/>
              <a:t>Given the manifold, we can learn a new system with little data and compute</a:t>
            </a:r>
          </a:p>
        </p:txBody>
      </p:sp>
    </p:spTree>
    <p:extLst>
      <p:ext uri="{BB962C8B-B14F-4D97-AF65-F5344CB8AC3E}">
        <p14:creationId xmlns:p14="http://schemas.microsoft.com/office/powerpoint/2010/main" val="4266933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2ECADF-5A7C-8B5B-897E-1E6DF3881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6C9A0B-F7D1-3271-2705-9663E401D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45" y="458216"/>
            <a:ext cx="11379200" cy="579438"/>
          </a:xfrm>
        </p:spPr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CFDB411-790C-1C48-6B58-22570F71A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157836"/>
            <a:ext cx="5590117" cy="639762"/>
          </a:xfrm>
        </p:spPr>
        <p:txBody>
          <a:bodyPr/>
          <a:lstStyle/>
          <a:p>
            <a:r>
              <a:rPr lang="en-CH" dirty="0"/>
              <a:t>Physics-based modeling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92CB0233-6D22-5761-054B-4DBD4C32993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399246" y="1700808"/>
                <a:ext cx="5042800" cy="300682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CH" dirty="0"/>
                  <a:t>Bergman model of glucose-insulin metabolism</a:t>
                </a:r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H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CH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H" dirty="0"/>
                  <a:t> physical coefficients</a:t>
                </a:r>
              </a:p>
              <a:p>
                <a:pPr marL="0" indent="0">
                  <a:buNone/>
                </a:pPr>
                <a:endParaRPr lang="en-CH" dirty="0"/>
              </a:p>
            </p:txBody>
          </p:sp>
        </mc:Choice>
        <mc:Fallback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92CB0233-6D22-5761-054B-4DBD4C3299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99246" y="1700808"/>
                <a:ext cx="5042800" cy="3006824"/>
              </a:xfrm>
              <a:blipFill>
                <a:blip r:embed="rId6"/>
                <a:stretch>
                  <a:fillRect l="-2764" t="-2101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58FDA89-D787-0734-1C4F-6418FBD106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637382" y="1168600"/>
            <a:ext cx="5592233" cy="639762"/>
          </a:xfrm>
        </p:spPr>
        <p:txBody>
          <a:bodyPr/>
          <a:lstStyle/>
          <a:p>
            <a:r>
              <a:rPr lang="en-CH" dirty="0"/>
              <a:t>Black-box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E99B6FF7-7B19-70CE-11FB-21F77FA22553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5442046" y="1700808"/>
                <a:ext cx="5667878" cy="335959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CH" dirty="0"/>
                  <a:t>Generic neural state-space model</a:t>
                </a:r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CH" dirty="0"/>
                  <a:t> containts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=100−1000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H" dirty="0"/>
                  <a:t>black-box parameters.</a:t>
                </a:r>
              </a:p>
              <a:p>
                <a:pPr marL="0" indent="0">
                  <a:buNone/>
                </a:pPr>
                <a:r>
                  <a:rPr lang="en-CH" b="1" dirty="0"/>
                  <a:t>                                          learned</a:t>
                </a:r>
                <a:r>
                  <a:rPr lang="en-CH" dirty="0"/>
                  <a:t> parameter manifold.</a:t>
                </a:r>
              </a:p>
            </p:txBody>
          </p:sp>
        </mc:Choice>
        <mc:Fallback xmlns=""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E99B6FF7-7B19-70CE-11FB-21F77FA225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5442046" y="1700808"/>
                <a:ext cx="5667878" cy="3359595"/>
              </a:xfrm>
              <a:blipFill>
                <a:blip r:embed="rId7"/>
                <a:stretch>
                  <a:fillRect l="-2461" t="-1880" r="-8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\documentclass{article}&#10;\usepackage{amsmath}&#10;\usepackage{amsfonts}&#10;&#10;\pagestyle{empty}&#10;&#10;\begin{document}&#10;&#10;\begin{align*}&#10;x^+ &amp;= N_f(x, u; \theta) \\&#10;y &amp;= N_g(x; \theta)&#10;\end{align*}&#10;&#10;\end{document}" title="IguanaTex Bitmap Display">
            <a:extLst>
              <a:ext uri="{FF2B5EF4-FFF2-40B4-BE49-F238E27FC236}">
                <a16:creationId xmlns:a16="http://schemas.microsoft.com/office/drawing/2014/main" id="{3B883A0D-3CB3-15BA-4140-113150E6DF4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735960" y="2524012"/>
            <a:ext cx="1623060" cy="617220"/>
          </a:xfrm>
          <a:prstGeom prst="rect">
            <a:avLst/>
          </a:prstGeom>
        </p:spPr>
      </p:pic>
      <p:pic>
        <p:nvPicPr>
          <p:cNvPr id="23" name="Picture 22" descr="\documentclass{article}&#10;\usepackage{amsmath}&#10;\usepackage{amsfonts}&#10;&#10;\pagestyle{empty}&#10;&#10;\begin{document}&#10;&#10;\begin{align*}&#10;\dot G(t) &amp;= -p_1\big(G(t) - G_b\big) - X(t) G(t),\\&#10;\dot X(t) &amp;= -p_2 X(t) + p_3 I(t),\\&#10;\dot I(t) &amp;= \gamma \big(G(t) - h\big)t - nI(t) \\&#10;y(t) &amp;= G(t) &#10;\end{align*}&#10;&#10;\end{document}" title="IguanaTex Bitmap Display">
            <a:extLst>
              <a:ext uri="{FF2B5EF4-FFF2-40B4-BE49-F238E27FC236}">
                <a16:creationId xmlns:a16="http://schemas.microsoft.com/office/drawing/2014/main" id="{E323E324-307B-F316-6284-82D97C41E00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10135" y="2286000"/>
            <a:ext cx="3589020" cy="1371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8D38A8-D1BB-6178-1578-2D811A843055}"/>
                  </a:ext>
                </a:extLst>
              </p:cNvPr>
              <p:cNvSpPr txBox="1"/>
              <p:nvPr/>
            </p:nvSpPr>
            <p:spPr bwMode="auto">
              <a:xfrm>
                <a:off x="399245" y="5291290"/>
                <a:ext cx="9441171" cy="9714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rtlCol="0">
                <a:prstTxWarp prst="textNoShape">
                  <a:avLst/>
                </a:prstTxWarp>
                <a:spAutoFit/>
              </a:bodyPr>
              <a:lstStyle/>
              <a:p>
                <a:pPr marL="2857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en-CH" sz="1800" kern="0" dirty="0">
                    <a:latin typeface="+mn-lt"/>
                    <a:ea typeface="ＭＳ Ｐゴシック" pitchFamily="-112" charset="-128"/>
                    <a:cs typeface="ＭＳ Ｐゴシック" pitchFamily="-112" charset="-128"/>
                  </a:rPr>
                  <a:t>The usual story is: let’s embed some physics in the black-box model</a:t>
                </a:r>
              </a:p>
              <a:p>
                <a:pPr marL="2857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en-CH" sz="1800" kern="0" dirty="0">
                    <a:latin typeface="+mn-lt"/>
                    <a:ea typeface="ＭＳ Ｐゴシック" pitchFamily="-112" charset="-128"/>
                    <a:cs typeface="ＭＳ Ｐゴシック" pitchFamily="-112" charset="-128"/>
                  </a:rPr>
                  <a:t>Here, we instead seek a low-dimensional manifold in the black-box parameter space</a:t>
                </a:r>
              </a:p>
              <a:p>
                <a:pPr marL="2857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en-US" sz="1800" kern="0" dirty="0">
                    <a:ea typeface="ＭＳ Ｐゴシック" pitchFamily="-112" charset="-128"/>
                    <a:cs typeface="ＭＳ Ｐゴシック" pitchFamily="-112" charset="-128"/>
                  </a:rPr>
                  <a:t>How small can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</m:oMath>
                </a14:m>
                <a:r>
                  <a:rPr lang="en-CH" sz="1800" kern="0" dirty="0">
                    <a:latin typeface="+mn-lt"/>
                    <a:ea typeface="ＭＳ Ｐゴシック" pitchFamily="-112" charset="-128"/>
                    <a:cs typeface="ＭＳ Ｐゴシック" pitchFamily="-112" charset="-128"/>
                  </a:rPr>
                  <a:t> be?</a:t>
                </a: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8D38A8-D1BB-6178-1578-2D811A843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245" y="5291290"/>
                <a:ext cx="9441171" cy="971484"/>
              </a:xfrm>
              <a:prstGeom prst="rect">
                <a:avLst/>
              </a:prstGeom>
              <a:blipFill>
                <a:blip r:embed="rId10"/>
                <a:stretch>
                  <a:fillRect l="-1344" t="-7792" b="-1039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\documentclass{article}&#10;\usepackage{amsmath}&#10;\usepackage{amsfonts}&#10;&#10;\pagestyle{empty}&#10;&#10;\begin{document}&#10;&#10;\begin{align*}&#10;x^+ &amp;= N_f(x, u; P(\phi)) \\&#10;y &amp;= N_g(x; P(\phi)) \\&#10;%P &amp;:  \mathbb{R}^{n_\phi} \rightarrow \mathbb{R}^{n_W} \\&#10;%n_\phi &amp;\ll n_\theta&#10;\end{align*}&#10;&#10;\end{document}" title="IguanaTex Bitmap Display">
            <a:extLst>
              <a:ext uri="{FF2B5EF4-FFF2-40B4-BE49-F238E27FC236}">
                <a16:creationId xmlns:a16="http://schemas.microsoft.com/office/drawing/2014/main" id="{D0D4B776-A023-7D43-8FA5-963E598D0E2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321222" y="2490995"/>
            <a:ext cx="2039701" cy="63301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EDC4282-2A2B-1887-78B7-0A00E02D9EE0}"/>
              </a:ext>
            </a:extLst>
          </p:cNvPr>
          <p:cNvSpPr txBox="1"/>
          <p:nvPr/>
        </p:nvSpPr>
        <p:spPr bwMode="auto">
          <a:xfrm>
            <a:off x="5640946" y="2971800"/>
            <a:ext cx="6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endParaRPr lang="en-CH" sz="14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3" name="Picture 2" descr="\documentclass{article}&#10;\usepackage{amsmath}&#10;\usepackage{amsfonts}&#10;&#10;\pagestyle{empty}&#10;&#10;\begin{document}&#10;&#10;\begin{equation*}&#10;P :  \mathbb{R}^{n_\phi} \rightarrow \mathbb{R}^{n_\theta}, \;\; n_\phi \ll {n_\theta} \\&#10;\end{equation*}&#10;&#10;\end{document}" title="IguanaTex Bitmap Display">
            <a:extLst>
              <a:ext uri="{FF2B5EF4-FFF2-40B4-BE49-F238E27FC236}">
                <a16:creationId xmlns:a16="http://schemas.microsoft.com/office/drawing/2014/main" id="{D3DBE74C-BBCD-CB87-4C68-6EAE621BBF7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442046" y="4350682"/>
            <a:ext cx="256032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79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C0A8994-5EDC-DC2C-376B-6B82762B2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760E45A-3AFB-DD4D-58C5-AA67E409F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45" y="458216"/>
            <a:ext cx="11379200" cy="579438"/>
          </a:xfrm>
        </p:spPr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3D81E58-6B4C-A98F-B982-49CCF9F9F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157836"/>
            <a:ext cx="5590117" cy="639762"/>
          </a:xfrm>
        </p:spPr>
        <p:txBody>
          <a:bodyPr/>
          <a:lstStyle/>
          <a:p>
            <a:r>
              <a:rPr lang="en-CH" dirty="0"/>
              <a:t>Physics-based modeling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4B9AAC05-8EC6-EC43-D47A-EE2980772E6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399246" y="1700808"/>
                <a:ext cx="5042800" cy="300682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CH" dirty="0"/>
                  <a:t>Two-tank system</a:t>
                </a:r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H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CH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H" dirty="0"/>
                  <a:t> physical coefficients</a:t>
                </a:r>
              </a:p>
              <a:p>
                <a:pPr marL="0" indent="0">
                  <a:buNone/>
                </a:pPr>
                <a:endParaRPr lang="en-CH" dirty="0"/>
              </a:p>
            </p:txBody>
          </p:sp>
        </mc:Choice>
        <mc:Fallback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4B9AAC05-8EC6-EC43-D47A-EE2980772E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99246" y="1700808"/>
                <a:ext cx="5042800" cy="3006824"/>
              </a:xfrm>
              <a:blipFill>
                <a:blip r:embed="rId6"/>
                <a:stretch>
                  <a:fillRect l="-2764" t="-2101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97FB287-6CA2-1979-6679-7EB7B3FED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637382" y="1168600"/>
            <a:ext cx="5592233" cy="639762"/>
          </a:xfrm>
        </p:spPr>
        <p:txBody>
          <a:bodyPr/>
          <a:lstStyle/>
          <a:p>
            <a:r>
              <a:rPr lang="en-CH" dirty="0"/>
              <a:t>Black-box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C585FDD4-4FFB-C184-456D-6D2A5E890350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5442046" y="1700808"/>
                <a:ext cx="5667878" cy="335959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CH" dirty="0"/>
                  <a:t>Generic neural state-space model</a:t>
                </a:r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CH" dirty="0"/>
                  <a:t> containts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=100−1000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H" dirty="0"/>
                  <a:t>black-box parameters.</a:t>
                </a:r>
              </a:p>
              <a:p>
                <a:pPr marL="0" indent="0">
                  <a:buNone/>
                </a:pPr>
                <a:r>
                  <a:rPr lang="en-CH" b="1" dirty="0"/>
                  <a:t>                                          learned</a:t>
                </a:r>
                <a:r>
                  <a:rPr lang="en-CH" dirty="0"/>
                  <a:t> parameter manifold.</a:t>
                </a:r>
              </a:p>
            </p:txBody>
          </p:sp>
        </mc:Choice>
        <mc:Fallback xmlns=""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E99B6FF7-7B19-70CE-11FB-21F77FA225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5442046" y="1700808"/>
                <a:ext cx="5667878" cy="3359595"/>
              </a:xfrm>
              <a:blipFill>
                <a:blip r:embed="rId7"/>
                <a:stretch>
                  <a:fillRect l="-2461" t="-1880" r="-8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\documentclass{article}&#10;\usepackage{amsmath}&#10;\usepackage{amsfonts}&#10;&#10;\pagestyle{empty}&#10;&#10;\begin{document}&#10;&#10;\begin{align*}&#10;x^+ &amp;= N_f(x, u; \theta) \\&#10;y &amp;= N_g(x; \theta)&#10;\end{align*}&#10;&#10;\end{document}" title="IguanaTex Bitmap Display">
            <a:extLst>
              <a:ext uri="{FF2B5EF4-FFF2-40B4-BE49-F238E27FC236}">
                <a16:creationId xmlns:a16="http://schemas.microsoft.com/office/drawing/2014/main" id="{241B10E3-4128-06C0-9209-4570A20AB94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442046" y="2521743"/>
            <a:ext cx="1623060" cy="617220"/>
          </a:xfrm>
          <a:prstGeom prst="rect">
            <a:avLst/>
          </a:prstGeom>
        </p:spPr>
      </p:pic>
      <p:pic>
        <p:nvPicPr>
          <p:cNvPr id="25" name="Picture 24" descr="\documentclass{article}&#10;\usepackage{amsmath}&#10;\usepackage{amsfonts}&#10;&#10;\pagestyle{empty}&#10;&#10;\begin{document}&#10;&#10;\begin{align*}&#10;\dot x_1 &amp;= -k_1 \sqrt{x_1} + k_4 u\\&#10;\dot x_2 &amp;= k_2 \sqrt{x_1} - k_3 \sqrt{x_2}\\&#10;y &amp;= x_2 &#10;\end{align*}&#10;&#10;\end{document}" title="IguanaTex Bitmap Display">
            <a:extLst>
              <a:ext uri="{FF2B5EF4-FFF2-40B4-BE49-F238E27FC236}">
                <a16:creationId xmlns:a16="http://schemas.microsoft.com/office/drawing/2014/main" id="{F9E16E79-8A40-DCCE-2ACE-96FBB249EAF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99245" y="2289820"/>
            <a:ext cx="2103120" cy="914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4A546C5-CCE1-80B1-C980-2923FB134713}"/>
                  </a:ext>
                </a:extLst>
              </p:cNvPr>
              <p:cNvSpPr txBox="1"/>
              <p:nvPr/>
            </p:nvSpPr>
            <p:spPr bwMode="auto">
              <a:xfrm>
                <a:off x="399245" y="5291290"/>
                <a:ext cx="9441171" cy="9714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rtlCol="0">
                <a:prstTxWarp prst="textNoShape">
                  <a:avLst/>
                </a:prstTxWarp>
                <a:spAutoFit/>
              </a:bodyPr>
              <a:lstStyle/>
              <a:p>
                <a:pPr marL="2857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en-CH" sz="1800" kern="0" dirty="0">
                    <a:latin typeface="+mn-lt"/>
                    <a:ea typeface="ＭＳ Ｐゴシック" pitchFamily="-112" charset="-128"/>
                    <a:cs typeface="ＭＳ Ｐゴシック" pitchFamily="-112" charset="-128"/>
                  </a:rPr>
                  <a:t>The usual story is: let’s embed some physics in the black-box model</a:t>
                </a:r>
              </a:p>
              <a:p>
                <a:pPr marL="2857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en-CH" sz="1800" kern="0" dirty="0">
                    <a:ea typeface="ＭＳ Ｐゴシック" pitchFamily="-112" charset="-128"/>
                    <a:cs typeface="ＭＳ Ｐゴシック" pitchFamily="-112" charset="-128"/>
                  </a:rPr>
                  <a:t>Here, we instead seek a low-dimensional manifold in the black-box parameter space</a:t>
                </a:r>
              </a:p>
              <a:p>
                <a:pPr marL="2857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en-US" sz="1800" kern="0" dirty="0">
                    <a:ea typeface="ＭＳ Ｐゴシック" pitchFamily="-112" charset="-128"/>
                    <a:cs typeface="ＭＳ Ｐゴシック" pitchFamily="-112" charset="-128"/>
                  </a:rPr>
                  <a:t>How small can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</m:oMath>
                </a14:m>
                <a:r>
                  <a:rPr lang="en-CH" sz="1800" kern="0" dirty="0">
                    <a:latin typeface="+mn-lt"/>
                    <a:ea typeface="ＭＳ Ｐゴシック" pitchFamily="-112" charset="-128"/>
                    <a:cs typeface="ＭＳ Ｐゴシック" pitchFamily="-112" charset="-128"/>
                  </a:rPr>
                  <a:t> be?</a:t>
                </a: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4A546C5-CCE1-80B1-C980-2923FB134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245" y="5291290"/>
                <a:ext cx="9441171" cy="971484"/>
              </a:xfrm>
              <a:prstGeom prst="rect">
                <a:avLst/>
              </a:prstGeom>
              <a:blipFill>
                <a:blip r:embed="rId10"/>
                <a:stretch>
                  <a:fillRect l="-1344" t="-7792" b="-1039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\documentclass{article}&#10;\usepackage{amsmath}&#10;\usepackage{amsfonts}&#10;&#10;\pagestyle{empty}&#10;&#10;\begin{document}&#10;&#10;\begin{align*}&#10;x^+ &amp;= N_f(x, u; P(\phi)) \\&#10;y &amp;= N_g(x; P(\phi)) \\&#10;%P &amp;:  \mathbb{R}^{n_\phi} \rightarrow \mathbb{R}^{n_W} \\&#10;%n_\phi &amp;\ll n_\theta&#10;\end{align*}&#10;&#10;\end{document}" title="IguanaTex Bitmap Display">
            <a:extLst>
              <a:ext uri="{FF2B5EF4-FFF2-40B4-BE49-F238E27FC236}">
                <a16:creationId xmlns:a16="http://schemas.microsoft.com/office/drawing/2014/main" id="{0ED0ED60-4128-BBD5-28A1-54FBD3EEDC7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321222" y="2490995"/>
            <a:ext cx="2039701" cy="63301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E86E7B6-9D8C-9F5B-3793-6EFC05EF49E9}"/>
              </a:ext>
            </a:extLst>
          </p:cNvPr>
          <p:cNvSpPr txBox="1"/>
          <p:nvPr/>
        </p:nvSpPr>
        <p:spPr bwMode="auto">
          <a:xfrm>
            <a:off x="5640946" y="2971800"/>
            <a:ext cx="6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endParaRPr lang="en-CH" sz="14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3" name="Picture 2" descr="\documentclass{article}&#10;\usepackage{amsmath}&#10;\usepackage{amsfonts}&#10;&#10;\pagestyle{empty}&#10;&#10;\begin{document}&#10;&#10;\begin{equation*}&#10;P :  \mathbb{R}^{n_\phi} \rightarrow \mathbb{R}^{n_\theta}, \;\; n_\phi \ll {n_\theta} \\&#10;\end{equation*}&#10;&#10;\end{document}" title="IguanaTex Bitmap Display">
            <a:extLst>
              <a:ext uri="{FF2B5EF4-FFF2-40B4-BE49-F238E27FC236}">
                <a16:creationId xmlns:a16="http://schemas.microsoft.com/office/drawing/2014/main" id="{1406EEF6-E665-A455-7367-2BF1F39B7AA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442046" y="4350682"/>
            <a:ext cx="2560320" cy="228600"/>
          </a:xfrm>
          <a:prstGeom prst="rect">
            <a:avLst/>
          </a:prstGeom>
        </p:spPr>
      </p:pic>
      <p:pic>
        <p:nvPicPr>
          <p:cNvPr id="18" name="Picture 17" descr="A close-up of a machine&#10;&#10;AI-generated content may be incorrect.">
            <a:extLst>
              <a:ext uri="{FF2B5EF4-FFF2-40B4-BE49-F238E27FC236}">
                <a16:creationId xmlns:a16="http://schemas.microsoft.com/office/drawing/2014/main" id="{943077E5-5385-A6E0-31D5-41C0DD328F4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10051" y="1751891"/>
            <a:ext cx="1584032" cy="211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190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6E2A980-0EE1-E111-0A42-FB806C155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535BBC7-65D4-6881-94D3-090CFB3BD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411463"/>
            <a:ext cx="11328400" cy="719137"/>
          </a:xfrm>
        </p:spPr>
        <p:txBody>
          <a:bodyPr/>
          <a:lstStyle/>
          <a:p>
            <a:r>
              <a:rPr lang="en-US" dirty="0"/>
              <a:t>Framework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DD769852-277D-9B12-B57C-88C5691C2A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800" y="980728"/>
                <a:ext cx="11328400" cy="532859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We are given: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A </a:t>
                </a:r>
                <a:r>
                  <a:rPr lang="en-US" b="1" dirty="0"/>
                  <a:t>meta-dataset</a:t>
                </a:r>
                <a:r>
                  <a:rPr lang="en-US" dirty="0"/>
                  <a:t>, namely a dataset of </a:t>
                </a:r>
                <a:r>
                  <a:rPr lang="en-US" b="1" dirty="0"/>
                  <a:t>related</a:t>
                </a:r>
                <a:r>
                  <a:rPr lang="en-US" dirty="0"/>
                  <a:t> of datasets:</a:t>
                </a: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Could be simulations with randomized physical parameters or historical datasets.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A </a:t>
                </a:r>
                <a:r>
                  <a:rPr lang="en-US" b="1" dirty="0"/>
                  <a:t>base architecture (neural network)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Each dataset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well described by (at least) one unknown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/>
                  <a:t>. We may fit models solving: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The architecture is </a:t>
                </a:r>
                <a:r>
                  <a:rPr lang="en-US" b="1" dirty="0"/>
                  <a:t>over-parameterized, </a:t>
                </a:r>
                <a:r>
                  <a:rPr lang="en-US" dirty="0"/>
                  <a:t>i.e. has more degrees of freedom (weights) than the intrinsic factors of variation across datasets (physical parameters). Fitting the model may be heavy and generalization poor.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DD769852-277D-9B12-B57C-88C5691C2A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800" y="980728"/>
                <a:ext cx="11328400" cy="5328592"/>
              </a:xfrm>
              <a:blipFill>
                <a:blip r:embed="rId5"/>
                <a:stretch>
                  <a:fillRect l="-1345" t="-1429" r="-134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\documentclass{article}&#10;\usepackage{amsmath}&#10;\usepackage{amsfonts}&#10;&#10;\newcommand{\DD}{\mathcal{D}}&#10;\newcommand{\N}{\mathbb{N}}&#10;\newcommand{\ii}{{(i)}}&#10;\newcommand{\seq}[1]{{\mathbf{#1}}}&#10;&#10;\pagestyle{empty}&#10;&#10;\begin{document}&#10;&#10;\begin{equation*}  &#10;\label{eq:dataset_stream}&#10;\DD=\{D^\ii\}_{i\in\N}, \text{ where } D^\ii = (\seq u_{0:N-1}^\ii, \seq y_{0:N-1}^\ii).%,\,\, i=0,1,\dots.&#10;\end{equation*}&#10;&#10;\end{document}" title="IguanaTex Bitmap Display">
            <a:extLst>
              <a:ext uri="{FF2B5EF4-FFF2-40B4-BE49-F238E27FC236}">
                <a16:creationId xmlns:a16="http://schemas.microsoft.com/office/drawing/2014/main" id="{7A29622C-03E1-6693-8C99-6F1C59D640D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503712" y="2132856"/>
            <a:ext cx="4686300" cy="320040"/>
          </a:xfrm>
          <a:prstGeom prst="rect">
            <a:avLst/>
          </a:prstGeom>
        </p:spPr>
      </p:pic>
      <p:pic>
        <p:nvPicPr>
          <p:cNvPr id="14" name="Picture 13" descr="\documentclass{article}&#10;\usepackage{amsmath}&#10;\usepackage{amsfonts}&#10;&#10;\newcommand{\ii}{{(i)}}&#10;\newcommand{\tr}{\mathrm{tr}}&#10;\newcommand{\te}{\mathrm{te}}&#10;\newcommand{\norm}[1]{\left\lVert#1\right\rVert}&#10;\newcommand{\abs}[1]{\left\lvert#1\right\rvert}&#10;\newcommand{\seq}[1]{{\mathbf{#1}}}&#10;\newcommand{\R}{\mathbb{R}}&#10;\newcommand{\D}{D}&#10;\newcommand{\E}{\mathbb{E}} % expectation&#10;\newcommand{\nsamp}{N}&#10;\newcommand{\sys}{S}&#10;\newcommand{\npar}{n}&#10;\newcommand{\nsvd}{r}&#10;\newcommand{\latent}{z}&#10;\newcommand{\fullpar}{\theta}&#10;\newcommand{\Fullpar}{\Theta}&#10;\newcommand{\redpar}{\phi}&#10;\newcommand{\projpar}{\gamma}&#10;\newcommand{\encpar}{\psi}&#10;\newcommand{\Redpar}{\Phi}&#10;\newcommand{\diag}{\mathrm{diag}}&#10;\newcommand{\loss}{\mathcal{L}}&#10;&#10;\pagestyle{empty}&#10;&#10;\begin{document}&#10;&#10;\begin{equation*}&#10;\hat {\seq{y}} = F(\seq{u}; \fullpar),\;  \fullpar \in \R^{n_\fullpar}.&#10;\end{equation*}&#10;&#10;\end{document}" title="IguanaTex Bitmap Display">
            <a:extLst>
              <a:ext uri="{FF2B5EF4-FFF2-40B4-BE49-F238E27FC236}">
                <a16:creationId xmlns:a16="http://schemas.microsoft.com/office/drawing/2014/main" id="{8D3C5962-C560-00BC-F2A9-C0AD277962B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238578" y="3861048"/>
            <a:ext cx="2520280" cy="268115"/>
          </a:xfrm>
          <a:prstGeom prst="rect">
            <a:avLst/>
          </a:prstGeom>
        </p:spPr>
      </p:pic>
      <p:pic>
        <p:nvPicPr>
          <p:cNvPr id="9" name="Picture 8" descr="\documentclass{article}&#10;\usepackage{amsmath}&#10;\usepackage{amsfonts}&#10;\newcommand{\seq}[1]{{\mathbf{#1}}}&#10;\newcommand{\redpar}{\phi}&#10;\newcommand{\projpar}{\gamma}&#10;\newcommand{\R}{\mathbb{R}}&#10;&#10;&#10;\pagestyle{empty}&#10;&#10;\begin{document}&#10;&#10;\begin{equation*}&#10;\hat \theta = \arg \min_\theta \mathcal{L}(\seq{y}, F(\seq{u}; \theta))&#10;\end{equation*}&#10;&#10;\end{document}" title="IguanaTex Bitmap Display">
            <a:extLst>
              <a:ext uri="{FF2B5EF4-FFF2-40B4-BE49-F238E27FC236}">
                <a16:creationId xmlns:a16="http://schemas.microsoft.com/office/drawing/2014/main" id="{C4833412-BB93-4D35-4168-EE1841A15E2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238578" y="4797152"/>
            <a:ext cx="2630475" cy="38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045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028E1AE-52D4-CE5F-DA42-0AFCD28AB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993DCC6-BB44-358A-1E74-430508D51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411463"/>
            <a:ext cx="11328400" cy="719137"/>
          </a:xfrm>
        </p:spPr>
        <p:txBody>
          <a:bodyPr/>
          <a:lstStyle/>
          <a:p>
            <a:r>
              <a:rPr lang="en-US" dirty="0"/>
              <a:t>Framework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78018EC-866D-F27A-E842-7B91CCD24E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800" y="980728"/>
                <a:ext cx="11328400" cy="496855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Each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may be seen as a sample from a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/>
                  <a:t>The dataset distribution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characterized by:</a:t>
                </a:r>
              </a:p>
              <a:p>
                <a:endParaRPr lang="en-US" dirty="0"/>
              </a:p>
              <a:p>
                <a:r>
                  <a:rPr lang="en-US" dirty="0"/>
                  <a:t>Random input sequences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A </a:t>
                </a:r>
                <a:r>
                  <a:rPr lang="en-US" b="1" dirty="0"/>
                  <a:t>small</a:t>
                </a:r>
                <a:r>
                  <a:rPr lang="en-US" dirty="0"/>
                  <a:t> latent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which specifies the dependency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</m:oMath>
                </a14:m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Latent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dirty="0"/>
                  <a:t>the subset of physical parameters</a:t>
                </a:r>
                <a:r>
                  <a:rPr lang="en-US" dirty="0"/>
                  <a:t> that vary across datasets. Fixed ones are part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(∙|∙,  ∙)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br>
                  <a:rPr lang="en-US" dirty="0"/>
                </a:br>
                <a:r>
                  <a:rPr lang="en-US" dirty="0"/>
                  <a:t>Example:</a:t>
                </a:r>
              </a:p>
              <a:p>
                <a:r>
                  <a:rPr lang="en-US" dirty="0"/>
                  <a:t>Robot where only the payload changes across experiments</a:t>
                </a:r>
              </a:p>
              <a:p>
                <a:r>
                  <a:rPr lang="en-US" dirty="0"/>
                  <a:t>Curation process where some ingredients are fixed (?)</a:t>
                </a:r>
              </a:p>
              <a:p>
                <a:r>
                  <a:rPr lang="en-US" dirty="0"/>
                  <a:t>…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further motivates the search of a manifold                          in the neural network’s parameter space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78018EC-866D-F27A-E842-7B91CCD24E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800" y="980728"/>
                <a:ext cx="11328400" cy="4968552"/>
              </a:xfrm>
              <a:blipFill>
                <a:blip r:embed="rId4"/>
                <a:stretch>
                  <a:fillRect l="-1345" t="-1531" b="-13520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\documentclass{article}&#10;\usepackage{amsmath}&#10;\usepackage{amsfonts}&#10;\newcommand{\latent}{z}&#10;\newcommand{\seq}[1]{{\mathbf{#1}}}&#10;&#10;\pagestyle{empty}&#10;&#10;\begin{document}&#10;&#10;\begin{equation*}&#10;p(D) = p(\seq{u}, \seq{y}) = p(\seq{u}) &#10;%\overbrace{&#10;\int_\latent p(\latent)  &#10;p(\seq{y} | \seq{u}, \latent) \; d\latent,&#10;\end{equation*}&#10;&#10;\end{document}" title="IguanaTex Bitmap Display">
            <a:extLst>
              <a:ext uri="{FF2B5EF4-FFF2-40B4-BE49-F238E27FC236}">
                <a16:creationId xmlns:a16="http://schemas.microsoft.com/office/drawing/2014/main" id="{EF28AD49-BCA8-0DF4-35C5-7441B833792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225666" y="2894698"/>
            <a:ext cx="4137660" cy="525780"/>
          </a:xfrm>
          <a:prstGeom prst="rect">
            <a:avLst/>
          </a:prstGeom>
        </p:spPr>
      </p:pic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75AC1AF-17C2-94BA-C782-FB5AA6C8CB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4352" y="1268760"/>
            <a:ext cx="1284930" cy="2019176"/>
          </a:xfrm>
          <a:prstGeom prst="rect">
            <a:avLst/>
          </a:prstGeom>
        </p:spPr>
      </p:pic>
      <p:pic>
        <p:nvPicPr>
          <p:cNvPr id="2" name="Picture 1" descr="\documentclass{article}&#10;\usepackage{amsmath}&#10;\usepackage{amsfonts}&#10;&#10;\pagestyle{empty}&#10;&#10;\begin{document}&#10;&#10;\begin{equation*}&#10;P :  \mathbb{R}^{n_\phi} \rightarrow \mathbb{R}^{n_\theta} \\&#10;\end{equation*}&#10;&#10;\end{document}" title="IguanaTex Bitmap Display">
            <a:extLst>
              <a:ext uri="{FF2B5EF4-FFF2-40B4-BE49-F238E27FC236}">
                <a16:creationId xmlns:a16="http://schemas.microsoft.com/office/drawing/2014/main" id="{74D79116-8AC5-4465-7FA6-C5EA05D13E7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231904" y="6255890"/>
            <a:ext cx="1463040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07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D1DFEB-9BED-FC76-24E2-F68941CDA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4CFBF-90E8-AD89-9FF4-986A0B1BA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Objective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A5458D-F4F8-9835-683C-C9B295CC71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CH" dirty="0"/>
                  <a:t>Learn a </a:t>
                </a:r>
                <a:r>
                  <a:rPr lang="en-CH" b="1" dirty="0"/>
                  <a:t>manifold</a:t>
                </a:r>
                <a:r>
                  <a:rPr lang="en-CH" dirty="0"/>
                  <a:t>                                         such that the base architecture restricted to the manifold:</a:t>
                </a:r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r>
                  <a:rPr lang="en-CH" dirty="0"/>
                  <a:t>      retains the capacity to represent </a:t>
                </a:r>
                <a:r>
                  <a:rPr lang="en-CH" b="1" dirty="0"/>
                  <a:t>each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CH" b="1" dirty="0"/>
                  <a:t> </a:t>
                </a:r>
                <a:r>
                  <a:rPr lang="en-CH" dirty="0"/>
                  <a:t>in the meta-dataset                          </a:t>
                </a:r>
                <a:r>
                  <a:rPr lang="en-CH" b="1" dirty="0"/>
                  <a:t>for some</a:t>
                </a:r>
                <a:r>
                  <a:rPr lang="en-CH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H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H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r>
                  <a:rPr lang="en-CH" dirty="0"/>
                  <a:t>Then, use it for reduced-order modeling. Given </a:t>
                </a:r>
                <a:r>
                  <a:rPr lang="en-CH" b="1" dirty="0"/>
                  <a:t>new</a:t>
                </a:r>
                <a:r>
                  <a:rPr lang="en-CH" dirty="0"/>
                  <a:t> data                      , solve:</a:t>
                </a: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r>
                  <a:rPr lang="en-CH" dirty="0"/>
                  <a:t>This should work well if                       comes from </a:t>
                </a:r>
                <a14:m>
                  <m:oMath xmlns:m="http://schemas.openxmlformats.org/officeDocument/2006/math">
                    <m:r>
                      <a:rPr lang="en-CH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CH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H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CH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H" dirty="0"/>
                  <a:t>! </a:t>
                </a:r>
                <a:br>
                  <a:rPr lang="en-CH" dirty="0"/>
                </a:b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A5458D-F4F8-9835-683C-C9B295CC71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8"/>
                <a:stretch>
                  <a:fillRect l="-1121" t="-1754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8" descr="\documentclass{article}&#10;\usepackage{amsmath}&#10;\usepackage{amsfonts}&#10;&#10;\newcommand{\seq}[1]{{\mathbf{#1}}}&#10;\newcommand{\redpar}{\phi}&#10;\newcommand{\projpar}{\gamma}&#10;\newcommand{\R}{\mathbb{R}}&#10;&#10;\pagestyle{empty}&#10;&#10;\begin{document}&#10;&#10;\begin{equation*}&#10;\hat {\seq{y}} = F(\seq{u}; P(\redpar))&#10;\end{equation*}&#10;&#10;\end{document}" title="IguanaTex Bitmap Display">
            <a:extLst>
              <a:ext uri="{FF2B5EF4-FFF2-40B4-BE49-F238E27FC236}">
                <a16:creationId xmlns:a16="http://schemas.microsoft.com/office/drawing/2014/main" id="{436641AB-8057-580D-5BBE-97CB8AA19AE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583832" y="2464740"/>
            <a:ext cx="1508760" cy="228600"/>
          </a:xfrm>
          <a:prstGeom prst="rect">
            <a:avLst/>
          </a:prstGeom>
        </p:spPr>
      </p:pic>
      <p:pic>
        <p:nvPicPr>
          <p:cNvPr id="5" name="Picture 4" descr="\documentclass{article}&#10;\usepackage{amsmath}&#10;\usepackage{amsfonts}&#10;\newcommand{\seq}[1]{{\mathbf{#1}}}&#10;\newcommand{\redpar}{\phi}&#10;\newcommand{\projpar}{\gamma}&#10;\newcommand{\R}{\mathbb{R}}&#10;&#10;&#10;\pagestyle{empty}&#10;&#10;\begin{document}&#10;&#10;\begin{equation*}&#10;\hat \phi = \arg \min_\phi \mathcal{L}(\seq{y}^*, F(\seq{u}^*; P (\phi))&#10;\end{equation*}&#10;&#10;\end{document}" title="IguanaTex Bitmap Display">
            <a:extLst>
              <a:ext uri="{FF2B5EF4-FFF2-40B4-BE49-F238E27FC236}">
                <a16:creationId xmlns:a16="http://schemas.microsoft.com/office/drawing/2014/main" id="{C66170FF-7926-A181-F246-2321C5B40C0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007768" y="4365104"/>
            <a:ext cx="2971800" cy="411480"/>
          </a:xfrm>
          <a:prstGeom prst="rect">
            <a:avLst/>
          </a:prstGeom>
        </p:spPr>
      </p:pic>
      <p:pic>
        <p:nvPicPr>
          <p:cNvPr id="12" name="Picture 11" descr="\documentclass{article}&#10;\usepackage{amsmath}&#10;\usepackage{amsfonts}&#10;&#10;\pagestyle{empty}&#10;&#10;\begin{document}&#10;&#10;\begin{equation*}&#10;D^* = (\mathbf{u}^*, \mathbf{y}^*)&#10;\end{equation*}&#10;&#10;\end{document}" title="IguanaTex Bitmap Display">
            <a:extLst>
              <a:ext uri="{FF2B5EF4-FFF2-40B4-BE49-F238E27FC236}">
                <a16:creationId xmlns:a16="http://schemas.microsoft.com/office/drawing/2014/main" id="{9BA93955-ACF4-B8C9-B03A-5F38B2BCE1D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563951" y="3962401"/>
            <a:ext cx="1348740" cy="228600"/>
          </a:xfrm>
          <a:prstGeom prst="rect">
            <a:avLst/>
          </a:prstGeom>
        </p:spPr>
      </p:pic>
      <p:pic>
        <p:nvPicPr>
          <p:cNvPr id="18" name="Picture 17" descr="\documentclass{article}&#10;\usepackage{amsmath}&#10;\usepackage{amsfonts}&#10;&#10;\newcommand{\DD}{\mathcal{D}}&#10;\newcommand{\N}{\mathbb{N}}&#10;\newcommand{\ii}{{(i)}}&#10;\newcommand{\seq}[1]{{\mathbf{#1}}}&#10;&#10;\pagestyle{empty}&#10;&#10;\begin{document}&#10;&#10;\begin{equation*}  &#10;\label{eq:dataset_stream}&#10;\DD=\{D^\ii\}_{i\in\N}&#10;\end{equation*}&#10;&#10;\end{document}" title="IguanaTex Bitmap Display">
            <a:extLst>
              <a:ext uri="{FF2B5EF4-FFF2-40B4-BE49-F238E27FC236}">
                <a16:creationId xmlns:a16="http://schemas.microsoft.com/office/drawing/2014/main" id="{468A4316-6ED0-BF2E-C156-B783769A48D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238321" y="2934059"/>
            <a:ext cx="1417320" cy="274320"/>
          </a:xfrm>
          <a:prstGeom prst="rect">
            <a:avLst/>
          </a:prstGeom>
        </p:spPr>
      </p:pic>
      <p:pic>
        <p:nvPicPr>
          <p:cNvPr id="25" name="Picture 24" descr="\documentclass{article}&#10;\usepackage{amsmath}&#10;\usepackage{amsfonts}&#10;&#10;\pagestyle{empty}&#10;&#10;\begin{document}&#10;&#10;\begin{equation*}&#10;P :  \mathbb{R}^{n_\phi} \rightarrow \mathbb{R}^{n_\theta}, n_\phi \ll n_\theta&#10;\end{equation*}&#10;&#10;\end{document}" title="IguanaTex Bitmap Display">
            <a:extLst>
              <a:ext uri="{FF2B5EF4-FFF2-40B4-BE49-F238E27FC236}">
                <a16:creationId xmlns:a16="http://schemas.microsoft.com/office/drawing/2014/main" id="{B4B0150D-4E94-2F58-DB6D-2EC666317FF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639616" y="1968692"/>
            <a:ext cx="2423160" cy="228600"/>
          </a:xfrm>
          <a:prstGeom prst="rect">
            <a:avLst/>
          </a:prstGeom>
        </p:spPr>
      </p:pic>
      <p:pic>
        <p:nvPicPr>
          <p:cNvPr id="30" name="Picture 29" descr="\documentclass{article}&#10;\usepackage{amsmath}&#10;\usepackage{amsfonts}&#10;&#10;\pagestyle{empty}&#10;&#10;\begin{document}&#10;&#10;\begin{equation*}&#10;D^* = (\mathbf{u}^*, \mathbf{y}^*)&#10;\end{equation*}&#10;&#10;\end{document}" title="IguanaTex Bitmap Display">
            <a:extLst>
              <a:ext uri="{FF2B5EF4-FFF2-40B4-BE49-F238E27FC236}">
                <a16:creationId xmlns:a16="http://schemas.microsoft.com/office/drawing/2014/main" id="{4B243C6E-888E-167C-A1B7-272BA4F1626B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238132" y="5085184"/>
            <a:ext cx="1226127" cy="20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14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6B69D-DBE2-0EB8-6AB4-8AF23F33F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375" y="548680"/>
            <a:ext cx="11328400" cy="719137"/>
          </a:xfrm>
        </p:spPr>
        <p:txBody>
          <a:bodyPr/>
          <a:lstStyle/>
          <a:p>
            <a:r>
              <a:rPr lang="en-CH" dirty="0"/>
              <a:t>Methodology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49F6FB-BD4C-89F4-45B9-5842ABE34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8225" y="1124744"/>
                <a:ext cx="11328400" cy="4321175"/>
              </a:xfrm>
            </p:spPr>
            <p:txBody>
              <a:bodyPr/>
              <a:lstStyle/>
              <a:p>
                <a:r>
                  <a:rPr lang="en-CH" dirty="0"/>
                  <a:t>We parameterize the manifold function </a:t>
                </a:r>
                <a14:m>
                  <m:oMath xmlns:m="http://schemas.openxmlformats.org/officeDocument/2006/math">
                    <m:r>
                      <a:rPr lang="en-CH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CH" dirty="0"/>
                  <a:t> with a vector </a:t>
                </a:r>
                <a14:m>
                  <m:oMath xmlns:m="http://schemas.openxmlformats.org/officeDocument/2006/math">
                    <m:r>
                      <a:rPr lang="en-CH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CH" dirty="0"/>
                  <a:t>:</a:t>
                </a:r>
              </a:p>
              <a:p>
                <a:endParaRPr lang="en-CH" dirty="0"/>
              </a:p>
              <a:p>
                <a:endParaRPr lang="en-CH" dirty="0"/>
              </a:p>
              <a:p>
                <a:r>
                  <a:rPr lang="en-CH" dirty="0"/>
                  <a:t>We split each dataset in train and test portions:</a:t>
                </a:r>
              </a:p>
              <a:p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endParaRPr lang="en-CH" dirty="0"/>
              </a:p>
              <a:p>
                <a:r>
                  <a:rPr lang="en-CH" dirty="0"/>
                  <a:t>In principle, the best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CH" dirty="0"/>
                  <a:t> could be the result of a </a:t>
                </a:r>
                <a:r>
                  <a:rPr lang="en-CH" b="1" dirty="0"/>
                  <a:t>bi-level</a:t>
                </a:r>
                <a:r>
                  <a:rPr lang="en-CH" dirty="0"/>
                  <a:t> optimization:</a:t>
                </a: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r>
                  <a:rPr lang="en-CH" dirty="0"/>
                  <a:t>where </a:t>
                </a: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endParaRPr lang="en-CH" dirty="0"/>
              </a:p>
              <a:p>
                <a:pPr marL="0" indent="0">
                  <a:buNone/>
                </a:pPr>
                <a:r>
                  <a:rPr lang="en-CH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49F6FB-BD4C-89F4-45B9-5842ABE34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225" y="1124744"/>
                <a:ext cx="11328400" cy="4321175"/>
              </a:xfrm>
              <a:blipFill>
                <a:blip r:embed="rId6"/>
                <a:stretch>
                  <a:fillRect l="-1120" t="-1466" b="-13783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 descr="\documentclass{article}&#10;\usepackage{amsmath}&#10;\usepackage{amsfonts}&#10;\newcommand{\base}{{base architecture}}&#10;\newcommand{\ii}{{(i)}}&#10;\newcommand{\tr}{\mathrm{tr}}&#10;\newcommand{\te}{\mathrm{te}}&#10;\newcommand{\norm}[1]{\left\lVert#1\right\rVert}&#10;\newcommand{\abs}[1]{\left\lvert#1\right\rvert}&#10;\newcommand{\seq}[1]{{\mathbf{#1}}}&#10;\newcommand{\R}{\mathbb{R}}&#10;\newcommand{\D}{D}&#10;\newcommand{\E}{\mathbb{E}} % expectation&#10;\newcommand{\nsamp}{N}&#10;\newcommand{\sys}{S}&#10;\newcommand{\npar}{n}&#10;\newcommand{\nsvd}{r}&#10;\newcommand{\latent}{z}&#10;\newcommand{\fullpar}{\theta}&#10;\newcommand{\Fullpar}{\Theta}&#10;\newcommand{\redpar}{\phi}&#10;\newcommand{\projpar}{\gamma}&#10;\newcommand{\encpar}{\psi}&#10;\newcommand{\Redpar}{\Phi}&#10;\newcommand{\diag}{\mathrm{diag}}&#10;\newcommand{\loss}{\mathcal{L}}&#10;\newtheorem{remark}{Remark}%[section]&#10;&#10;\newcommand{\AB}[1]{\textbf{\color{magenta}{[AB: #1]}}}&#10;\newcommand{\DD}{\mathcal{D}}&#10;\newcommand{\N}{\mathbb{N}}&#10;\pagestyle{empty}&#10;&#10;\begin{document}&#10;&#10;\begin{equation*}&#10;P_\projpar :  \mathbb{R}^{n_\phi} \rightarrow \mathbb{R}^{n_\theta}, &#10;\projpar \in \mathbb{R}^{n_\projpar} &#10;\end{equation*}&#10;&#10;\end{document}" title="IguanaTex Bitmap Display">
            <a:extLst>
              <a:ext uri="{FF2B5EF4-FFF2-40B4-BE49-F238E27FC236}">
                <a16:creationId xmlns:a16="http://schemas.microsoft.com/office/drawing/2014/main" id="{322E1B06-386C-253D-E1BE-727E763A421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567608" y="1682651"/>
            <a:ext cx="2446020" cy="228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4E8545-A958-D3A3-7CB3-421D5C21E1A2}"/>
              </a:ext>
            </a:extLst>
          </p:cNvPr>
          <p:cNvSpPr txBox="1"/>
          <p:nvPr/>
        </p:nvSpPr>
        <p:spPr bwMode="auto">
          <a:xfrm>
            <a:off x="3445099" y="-734096"/>
            <a:ext cx="6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endParaRPr lang="en-CH" sz="14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25" name="Picture 24" descr="\documentclass{article}&#10;\usepackage{amsmath}&#10;\usepackage{amsfonts}&#10;&#10;\newcommand{\base}{{base architecture}}&#10;\newcommand{\ii}{{(i)}}&#10;\newcommand{\tr}{\mathrm{tr}}&#10;\newcommand{\te}{\mathrm{te}}&#10;\newcommand{\norm}[1]{\left\lVert#1\right\rVert}&#10;\newcommand{\abs}[1]{\left\lvert#1\right\rvert}&#10;\newcommand{\seq}[1]{{\mathbf{#1}}}&#10;\newcommand{\R}{\mathbb{R}}&#10;\newcommand{\D}{D}&#10;\newcommand{\E}{\mathbb{E}} % expectation&#10;\newcommand{\nsamp}{N}&#10;\newcommand{\sys}{S}&#10;\newcommand{\npar}{n}&#10;\newcommand{\nsvd}{r}&#10;\newcommand{\latent}{z}&#10;\newcommand{\fullpar}{\theta}&#10;\newcommand{\Fullpar}{\Theta}&#10;\newcommand{\redpar}{\phi}&#10;\newcommand{\projpar}{\gamma}&#10;\newcommand{\encpar}{\psi}&#10;\newcommand{\Redpar}{\Phi}&#10;\newcommand{\diag}{\mathrm{diag}}&#10;\newcommand{\loss}{\mathcal{L}}&#10;\newtheorem{remark}{Remark}%[section]&#10;&#10;\newcommand{\AB}[1]{\textbf{\color{magenta}{[AB: #1]}}}&#10;\newcommand{\DD}{\mathcal{D}}&#10;\newcommand{\N}{\mathbb{N}}&#10;&#10;\pagestyle{empty}&#10;&#10;\begin{document}&#10;&#10;\begin{align*}&#10;\hat \projpar &amp;= \arg \min_{\projpar} \E_{p(\D)}&#10;\big [ \loss({\seq y}_\te, \hat {\seq y}_\te) \big ]\\&#10;\hat{\seq{y}}_\te  &amp;= F\left(&#10;  \seq{u}_\te ; \,&#10;  P_{\projpar} ( \hat \redpar  )&#10;\right)\\&#10;  \hat \redpar &amp;=&#10;  \text{SYSID}(\seq u_\tr , \seq y_\tr; \projpar )&#10;\end{align*}&#10;&#10;\end{document}" title="IguanaTex Bitmap Display">
            <a:extLst>
              <a:ext uri="{FF2B5EF4-FFF2-40B4-BE49-F238E27FC236}">
                <a16:creationId xmlns:a16="http://schemas.microsoft.com/office/drawing/2014/main" id="{6786BAC9-9BCA-4F89-F274-80B8F168AE2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495600" y="3825510"/>
            <a:ext cx="3108960" cy="1257300"/>
          </a:xfrm>
          <a:prstGeom prst="rect">
            <a:avLst/>
          </a:prstGeom>
        </p:spPr>
      </p:pic>
      <p:pic>
        <p:nvPicPr>
          <p:cNvPr id="28" name="Picture 27" descr="\documentclass{article}&#10;\usepackage{amsmath}&#10;\usepackage{amsfonts}&#10;&#10;\newcommand{\base}{{base architecture}}&#10;\newcommand{\ii}{{(i)}}&#10;\newcommand{\tr}{\mathrm{tr}}&#10;\newcommand{\te}{\mathrm{te}}&#10;\newcommand{\norm}[1]{\left\lVert#1\right\rVert}&#10;\newcommand{\abs}[1]{\left\lvert#1\right\rvert}&#10;\newcommand{\seq}[1]{{\mathbf{#1}}}&#10;\newcommand{\R}{\mathbb{R}}&#10;\newcommand{\D}{D}&#10;\newcommand{\E}{\mathbb{E}} % expectation&#10;\newcommand{\nsamp}{N}&#10;\newcommand{\sys}{S}&#10;\newcommand{\npar}{n}&#10;\newcommand{\nsvd}{r}&#10;\newcommand{\latent}{z}&#10;\newcommand{\fullpar}{\theta}&#10;\newcommand{\Fullpar}{\Theta}&#10;\newcommand{\redpar}{\phi}&#10;\newcommand{\projpar}{\gamma}&#10;\newcommand{\encpar}{\psi}&#10;\newcommand{\Redpar}{\Phi}&#10;\newcommand{\diag}{\mathrm{diag}}&#10;\newcommand{\loss}{\mathcal{L}}&#10;\newtheorem{remark}{Remark}%[section]&#10;&#10;\newcommand{\AB}[1]{\textbf{\color{magenta}{[AB: #1]}}}&#10;\newcommand{\DD}{\mathcal{D}}&#10;\newcommand{\N}{\mathbb{N}}&#10;&#10;\pagestyle{empty}&#10;&#10;\begin{document}&#10;&#10;\begin{equation*}&#10;\text{SYSID}(\seq u_\tr , \seq y_\tr; \projpar ) = \arg \min_\phi \loss(\seq y_\tr,&#10;F(\seq u_\tr; P_\gamma(\phi))&#10;\end{equation*}&#10;&#10;\end{document}" title="IguanaTex Bitmap Display">
            <a:extLst>
              <a:ext uri="{FF2B5EF4-FFF2-40B4-BE49-F238E27FC236}">
                <a16:creationId xmlns:a16="http://schemas.microsoft.com/office/drawing/2014/main" id="{FEEACD69-7000-E25C-A254-9DD74558DF5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559496" y="5656223"/>
            <a:ext cx="4800600" cy="365760"/>
          </a:xfrm>
          <a:prstGeom prst="rect">
            <a:avLst/>
          </a:prstGeom>
        </p:spPr>
      </p:pic>
      <p:pic>
        <p:nvPicPr>
          <p:cNvPr id="6" name="Picture 5" descr="\documentclass{article}&#10;\usepackage{amsmath}&#10;\usepackage{amsfonts}&#10;&#10;\newcommand{\base}{{base architecture}}&#10;\newcommand{\ii}{{(i)}}&#10;\newcommand{\tr}{\mathrm{tr}}&#10;\newcommand{\te}{\mathrm{te}}&#10;\newcommand{\norm}[1]{\left\lVert#1\right\rVert}&#10;\newcommand{\abs}[1]{\left\lvert#1\right\rvert}&#10;\newcommand{\seq}[1]{{\mathbf{#1}}}&#10;\newcommand{\R}{\mathbb{R}}&#10;\newcommand{\D}{D}&#10;\newcommand{\E}{\mathbb{E}} % expectation&#10;\newcommand{\nsamp}{N}&#10;\newcommand{\sys}{S}&#10;\newcommand{\npar}{n}&#10;\newcommand{\nsvd}{r}&#10;\newcommand{\latent}{z}&#10;\newcommand{\fullpar}{\theta}&#10;\newcommand{\Fullpar}{\Theta}&#10;\newcommand{\redpar}{\phi}&#10;\newcommand{\projpar}{\gamma}&#10;\newcommand{\encpar}{\psi}&#10;\newcommand{\Redpar}{\Phi}&#10;\newcommand{\diag}{\mathrm{diag}}&#10;\newcommand{\loss}{\mathcal{L}}&#10;\newtheorem{remark}{Remark}%[section]&#10;&#10;\newcommand{\AB}[1]{\textbf{\color{magenta}{[AB: #1]}}}&#10;\newcommand{\DD}{\mathcal{D}}&#10;\newcommand{\N}{\mathbb{N}}&#10;&#10;\pagestyle{empty}&#10;&#10;\begin{document}&#10;&#10;\begin{equation*}&#10;D^\ii = (\seq{u}^\ii_\tr , \seq{y}^\ii_\tr ), (\seq{u}^\ii_\te , \seq{y}^\ii_\te ),\, i=1,2,\dots,&#10;\end{equation*}&#10;&#10;\end{document}" title="IguanaTex Bitmap Display">
            <a:extLst>
              <a:ext uri="{FF2B5EF4-FFF2-40B4-BE49-F238E27FC236}">
                <a16:creationId xmlns:a16="http://schemas.microsoft.com/office/drawing/2014/main" id="{DD6B4654-C238-F08D-6724-6EFEC699BBB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423592" y="2599303"/>
            <a:ext cx="4114800" cy="297180"/>
          </a:xfrm>
          <a:prstGeom prst="rect">
            <a:avLst/>
          </a:prstGeom>
        </p:spPr>
      </p:pic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AC260A8-26FB-D75A-2180-2DAF0F1022C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5846" y="1096268"/>
            <a:ext cx="2360862" cy="218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712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3F46420-5E62-D4E2-F74D-12CC84D68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7DB9D-319B-793B-1794-E241DB7EA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375" y="548680"/>
            <a:ext cx="11328400" cy="719137"/>
          </a:xfrm>
        </p:spPr>
        <p:txBody>
          <a:bodyPr/>
          <a:lstStyle/>
          <a:p>
            <a:r>
              <a:rPr lang="en-CH" dirty="0"/>
              <a:t>Methodology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822E78-D986-8B29-D67A-6AE3EB854E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8225" y="1124744"/>
                <a:ext cx="11328400" cy="4752528"/>
              </a:xfrm>
            </p:spPr>
            <p:txBody>
              <a:bodyPr/>
              <a:lstStyle/>
              <a:p>
                <a:r>
                  <a:rPr lang="en-CH" dirty="0"/>
                  <a:t>For simplicity, we replace the inner optimization with an </a:t>
                </a:r>
                <a:r>
                  <a:rPr lang="en-CH" b="1" dirty="0"/>
                  <a:t>auxiliary</a:t>
                </a:r>
                <a:r>
                  <a:rPr lang="en-CH" dirty="0"/>
                  <a:t> neural network</a:t>
                </a: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endParaRPr lang="en-CH" dirty="0"/>
              </a:p>
              <a:p>
                <a:r>
                  <a:rPr lang="en-CH" dirty="0"/>
                  <a:t>We approximate the expected value with samples from </a:t>
                </a: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r>
                  <a:rPr lang="en-CH" dirty="0"/>
                  <a:t>and minimize wrt </a:t>
                </a:r>
                <a14:m>
                  <m:oMath xmlns:m="http://schemas.openxmlformats.org/officeDocument/2006/math">
                    <m:r>
                      <a:rPr lang="en-CH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CH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CH" dirty="0"/>
                  <a:t> with minibatch gradient descent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822E78-D986-8B29-D67A-6AE3EB854E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225" y="1124744"/>
                <a:ext cx="11328400" cy="4752528"/>
              </a:xfrm>
              <a:blipFill>
                <a:blip r:embed="rId5"/>
                <a:stretch>
                  <a:fillRect l="-1120" t="-1333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AA0A7AC-B5BE-7BBB-580A-D5072FA24F5A}"/>
              </a:ext>
            </a:extLst>
          </p:cNvPr>
          <p:cNvSpPr txBox="1"/>
          <p:nvPr/>
        </p:nvSpPr>
        <p:spPr bwMode="auto">
          <a:xfrm>
            <a:off x="3445099" y="-734096"/>
            <a:ext cx="6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endParaRPr lang="en-CH" sz="14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8" name="Picture 7" descr="\documentclass{article}&#10;\usepackage{amsmath}&#10;\usepackage{amsfonts}&#10;&#10;\newcommand{\base}{{base architecture}}&#10;\newcommand{\ii}{{(i)}}&#10;\newcommand{\tr}{\mathrm{tr}}&#10;\newcommand{\te}{\mathrm{te}}&#10;\newcommand{\norm}[1]{\left\lVert#1\right\rVert}&#10;\newcommand{\abs}[1]{\left\lvert#1\right\rvert}&#10;\newcommand{\seq}[1]{{\mathbf{#1}}}&#10;\newcommand{\R}{\mathbb{R}}&#10;\newcommand{\D}{D}&#10;\newcommand{\E}{\mathbb{E}} % expectation&#10;\newcommand{\nsamp}{N}&#10;\newcommand{\sys}{S}&#10;\newcommand{\npar}{n}&#10;\newcommand{\nsvd}{r}&#10;\newcommand{\latent}{z}&#10;\newcommand{\fullpar}{\theta}&#10;\newcommand{\Fullpar}{\Theta}&#10;\newcommand{\redpar}{\phi}&#10;\newcommand{\projpar}{\gamma}&#10;\newcommand{\encpar}{\psi}&#10;\newcommand{\Redpar}{\Phi}&#10;\newcommand{\diag}{\mathrm{diag}}&#10;\newcommand{\loss}{\mathcal{L}}&#10;\newtheorem{remark}{Remark}%[section]&#10;&#10;\newcommand{\AB}[1]{\textbf{\color{magenta}{[AB: #1]}}}&#10;\newcommand{\DD}{\mathcal{D}}&#10;\newcommand{\N}{\mathbb{N}}&#10;&#10;\pagestyle{empty}&#10;&#10;\begin{document}&#10;&#10;\begin{align*}&#10;\hat \projpar, \hat \encpar &amp;= \arg \min_{\projpar, \encpar} \E_{p(\D)} &#10;\overbrace{\big [ \loss({\seq y}_\te, \hat {\seq y}_\te,) \big ]}^{J(\gamma, \psi)} \label{eq:hypernet_a}\\&#10;\hat{\seq{y}}_\te  &amp;= F\left(&#10;  \seq{u}_\te ; \,&#10;  P_{\projpar} ( \hat \redpar )&#10;\right) \\&#10;  \hat \redpar &amp;=&#10;  E_{\psi}(\seq u_\tr , \seq y_\tr )&#10;\end{align*}&#10;&#10;\end{document}" title="IguanaTex Bitmap Display">
            <a:extLst>
              <a:ext uri="{FF2B5EF4-FFF2-40B4-BE49-F238E27FC236}">
                <a16:creationId xmlns:a16="http://schemas.microsoft.com/office/drawing/2014/main" id="{D1042A9E-6148-B37F-87E6-50B02E825E0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487488" y="1523619"/>
            <a:ext cx="3406140" cy="1623060"/>
          </a:xfrm>
          <a:prstGeom prst="rect">
            <a:avLst/>
          </a:prstGeom>
        </p:spPr>
      </p:pic>
      <p:pic>
        <p:nvPicPr>
          <p:cNvPr id="11" name="Picture 10" descr="\documentclass{article}&#10;\usepackage{amsmath}&#10;\usepackage{amsfonts}&#10;&#10;\newcommand{\base}{{base architecture}}&#10;\newcommand{\ii}{{(i)}}&#10;\newcommand{\tr}{\mathrm{tr}}&#10;\newcommand{\te}{\mathrm{te}}&#10;\newcommand{\norm}[1]{\left\lVert#1\right\rVert}&#10;\newcommand{\abs}[1]{\left\lvert#1\right\rvert}&#10;\newcommand{\seq}[1]{{\mathbf{#1}}}&#10;\newcommand{\R}{\mathbb{R}}&#10;\newcommand{\D}{D}&#10;\newcommand{\E}{\mathbb{E}} % expectation&#10;\newcommand{\nsamp}{N}&#10;\newcommand{\sys}{S}&#10;\newcommand{\npar}{n}&#10;\newcommand{\nsvd}{r}&#10;\newcommand{\latent}{z}&#10;\newcommand{\fullpar}{\theta}&#10;\newcommand{\Fullpar}{\Theta}&#10;\newcommand{\redpar}{\phi}&#10;\newcommand{\projpar}{\gamma}&#10;\newcommand{\encpar}{\psi}&#10;\newcommand{\Redpar}{\Phi}&#10;\newcommand{\diag}{\mathrm{diag}}&#10;\newcommand{\loss}{\mathcal{L}}&#10;\newtheorem{remark}{Remark}%[section]&#10;&#10;\newcommand{\AB}[1]{\textbf{\color{magenta}{[AB: #1]}}}&#10;\newcommand{\DD}{\mathcal{D}}&#10;\newcommand{\N}{\mathbb{N}}&#10;&#10;\pagestyle{empty}&#10;&#10;\begin{document}&#10;&#10;\begin{align*}&#10;\DD&#10;\end{align*}&#10;&#10;\end{document}" title="IguanaTex Bitmap Display">
            <a:extLst>
              <a:ext uri="{FF2B5EF4-FFF2-40B4-BE49-F238E27FC236}">
                <a16:creationId xmlns:a16="http://schemas.microsoft.com/office/drawing/2014/main" id="{9E022039-41FC-345B-30DA-19985BDA8E5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387531" y="3716148"/>
            <a:ext cx="182880" cy="160020"/>
          </a:xfrm>
          <a:prstGeom prst="rect">
            <a:avLst/>
          </a:prstGeom>
        </p:spPr>
      </p:pic>
      <p:pic>
        <p:nvPicPr>
          <p:cNvPr id="13" name="Picture 12" descr="\documentclass{article}&#10;\usepackage{amsmath}&#10;\usepackage{amsfonts}&#10;&#10;\newcommand{\base}{{base architecture}}&#10;\newcommand{\ii}{{(i)}}&#10;\newcommand{\tr}{\mathrm{tr}}&#10;\newcommand{\te}{\mathrm{te}}&#10;\newcommand{\norm}[1]{\left\lVert#1\right\rVert}&#10;\newcommand{\abs}[1]{\left\lvert#1\right\rvert}&#10;\newcommand{\seq}[1]{{\mathbf{#1}}}&#10;\newcommand{\R}{\mathbb{R}}&#10;\newcommand{\D}{D}&#10;\newcommand{\E}{\mathbb{E}} % expectation&#10;\newcommand{\nsamp}{N}&#10;\newcommand{\sys}{S}&#10;\newcommand{\npar}{n}&#10;\newcommand{\nsvd}{r}&#10;\newcommand{\latent}{z}&#10;\newcommand{\fullpar}{\theta}&#10;\newcommand{\Fullpar}{\Theta}&#10;\newcommand{\redpar}{\phi}&#10;\newcommand{\projpar}{\gamma}&#10;\newcommand{\encpar}{\psi}&#10;\newcommand{\Redpar}{\Phi}&#10;\newcommand{\diag}{\mathrm{diag}}&#10;\newcommand{\loss}{\mathcal{L}}&#10;\newtheorem{remark}{Remark}%[section]&#10;&#10;\newcommand{\AB}[1]{\textbf{\color{magenta}{[AB: #1]}}}&#10;\newcommand{\DD}{\mathcal{D}}&#10;\newcommand{\N}{\mathbb{N}}&#10;&#10;\pagestyle{empty}&#10;&#10;\begin{document}&#10;&#10;\begin{equation*}&#10;    \tilde J(\gamma, \psi) = \frac{1}{b} \sum_{i=1}^b \loss\bigg(\seq y_\te^\ii, F\big(\seq u_\te^\ii, P_\projpar(E_\psi(\seq u_\tr^\ii, \seq y_\tr^\ii)\big ) \bigg)&#10;\end{equation*}&#10;&#10;\end{document}" title="IguanaTex Bitmap Display">
            <a:extLst>
              <a:ext uri="{FF2B5EF4-FFF2-40B4-BE49-F238E27FC236}">
                <a16:creationId xmlns:a16="http://schemas.microsoft.com/office/drawing/2014/main" id="{519C5045-7358-EA1D-F4FE-9F654331327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381191" y="4214222"/>
            <a:ext cx="5006340" cy="662940"/>
          </a:xfrm>
          <a:prstGeom prst="rect">
            <a:avLst/>
          </a:prstGeom>
        </p:spPr>
      </p:pic>
      <p:pic>
        <p:nvPicPr>
          <p:cNvPr id="15" name="Picture 14" descr="A rectangular object with a black background&#10;&#10;AI-generated content may be incorrect.">
            <a:extLst>
              <a:ext uri="{FF2B5EF4-FFF2-40B4-BE49-F238E27FC236}">
                <a16:creationId xmlns:a16="http://schemas.microsoft.com/office/drawing/2014/main" id="{DE99ACA5-DBDE-D5FE-5C05-D06D1CB52D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1808" y="1843881"/>
            <a:ext cx="4419955" cy="137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706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A9B9154-CD15-6A92-F002-5C2A5492A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370FF-742C-1AC9-6C25-A22F6A951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375" y="548680"/>
            <a:ext cx="11328400" cy="719137"/>
          </a:xfrm>
        </p:spPr>
        <p:txBody>
          <a:bodyPr/>
          <a:lstStyle/>
          <a:p>
            <a:r>
              <a:rPr lang="en-CH" dirty="0"/>
              <a:t>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DCF049-8E26-0944-BAFA-8963DFF6E7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8225" y="1124744"/>
                <a:ext cx="11328400" cy="482453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CH" dirty="0"/>
                  <a:t>Experiments on the </a:t>
                </a:r>
                <a:r>
                  <a:rPr lang="en-CH" dirty="0">
                    <a:hlinkClick r:id="rId5"/>
                  </a:rPr>
                  <a:t>Bouc-Wen</a:t>
                </a:r>
                <a:r>
                  <a:rPr lang="en-CH" dirty="0"/>
                  <a:t> system identification benchmark (hysteretic oscillator).</a:t>
                </a: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endParaRPr lang="en-CH" dirty="0"/>
              </a:p>
              <a:p>
                <a:pPr marL="0" indent="0">
                  <a:buNone/>
                </a:pPr>
                <a:endParaRPr lang="en-CH" sz="1800" i="1" kern="0" dirty="0">
                  <a:latin typeface="Cambria Math" panose="02040503050406030204" pitchFamily="18" charset="0"/>
                  <a:ea typeface="ＭＳ Ｐゴシック" pitchFamily="-112" charset="-128"/>
                </a:endParaRPr>
              </a:p>
              <a:p>
                <a:pPr marL="0" indent="0">
                  <a:buNone/>
                </a:pPr>
                <a:endParaRPr lang="en-CH" sz="1800" i="1" kern="0" dirty="0">
                  <a:latin typeface="Cambria Math" panose="02040503050406030204" pitchFamily="18" charset="0"/>
                  <a:ea typeface="ＭＳ Ｐゴシック" pitchFamily="-112" charset="-128"/>
                </a:endParaRPr>
              </a:p>
              <a:p>
                <a:pPr marL="0" indent="0">
                  <a:buNone/>
                </a:pPr>
                <a:endParaRPr lang="en-CH" sz="1800" i="1" kern="0" dirty="0">
                  <a:latin typeface="Cambria Math" panose="02040503050406030204" pitchFamily="18" charset="0"/>
                  <a:ea typeface="ＭＳ Ｐゴシック" pitchFamily="-112" charset="-128"/>
                </a:endParaRPr>
              </a:p>
              <a:p>
                <a:pPr marL="0" indent="0">
                  <a:buNone/>
                </a:pPr>
                <a:endParaRPr lang="en-CH" sz="1800" i="1" kern="0" dirty="0">
                  <a:latin typeface="Cambria Math" panose="02040503050406030204" pitchFamily="18" charset="0"/>
                  <a:ea typeface="ＭＳ Ｐゴシック" pitchFamily="-112" charset="-128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H" sz="1800" i="1" kern="0" smtClean="0">
                            <a:latin typeface="Cambria Math" panose="02040503050406030204" pitchFamily="18" charset="0"/>
                            <a:ea typeface="ＭＳ Ｐゴシック" pitchFamily="-112" charset="-128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ＭＳ Ｐゴシック" pitchFamily="-112" charset="-128"/>
                          </a:rPr>
                          <m:t>𝑁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ＭＳ Ｐゴシック" pitchFamily="-112" charset="-128"/>
                          </a:rPr>
                          <m:t>𝑓</m:t>
                        </m:r>
                      </m:sub>
                    </m:sSub>
                    <m:r>
                      <a:rPr lang="en-US" sz="1800" b="0" i="1" kern="0" smtClean="0">
                        <a:latin typeface="Cambria Math" panose="02040503050406030204" pitchFamily="18" charset="0"/>
                        <a:ea typeface="ＭＳ Ｐゴシック" pitchFamily="-112" charset="-128"/>
                      </a:rPr>
                      <m:t>,</m:t>
                    </m:r>
                    <m:sSub>
                      <m:sSubPr>
                        <m:ctrlPr>
                          <a:rPr lang="en-CH" sz="1800" i="1" kern="0">
                            <a:latin typeface="Cambria Math" panose="02040503050406030204" pitchFamily="18" charset="0"/>
                            <a:ea typeface="ＭＳ Ｐゴシック" pitchFamily="-112" charset="-128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ＭＳ Ｐゴシック" pitchFamily="-112" charset="-128"/>
                          </a:rPr>
                          <m:t>𝑁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ＭＳ Ｐゴシック" pitchFamily="-112" charset="-128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CH" sz="1800" kern="0" dirty="0">
                    <a:latin typeface="+mn-lt"/>
                    <a:ea typeface="ＭＳ Ｐゴシック" pitchFamily="-112" charset="-128"/>
                    <a:cs typeface="ＭＳ Ｐゴシック" pitchFamily="-112" charset="-128"/>
                  </a:rPr>
                  <a:t>: MLPs with 1 hidden layers, 16 units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kern="0" dirty="0" smtClean="0">
                            <a:latin typeface="Cambria Math" panose="02040503050406030204" pitchFamily="18" charset="0"/>
                            <a:ea typeface="ＭＳ Ｐゴシック" pitchFamily="-112" charset="-128"/>
                          </a:rPr>
                        </m:ctrlPr>
                      </m:sSubPr>
                      <m:e>
                        <m:r>
                          <a:rPr lang="en-US" sz="1800" b="0" i="1" kern="0" dirty="0" smtClean="0">
                            <a:latin typeface="Cambria Math" panose="02040503050406030204" pitchFamily="18" charset="0"/>
                            <a:ea typeface="ＭＳ Ｐゴシック" pitchFamily="-112" charset="-128"/>
                          </a:rPr>
                          <m:t>𝑛</m:t>
                        </m:r>
                      </m:e>
                      <m:sub>
                        <m:r>
                          <a:rPr lang="en-US" sz="18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1800" b="0" i="1" kern="0" dirty="0" smtClean="0">
                        <a:latin typeface="Cambria Math" panose="02040503050406030204" pitchFamily="18" charset="0"/>
                        <a:ea typeface="ＭＳ Ｐゴシック" pitchFamily="-112" charset="-128"/>
                      </a:rPr>
                      <m:t>=</m:t>
                    </m:r>
                    <m:r>
                      <a:rPr lang="en-CH" sz="1800" i="1" kern="0" dirty="0" smtClean="0">
                        <a:latin typeface="Cambria Math" panose="02040503050406030204" pitchFamily="18" charset="0"/>
                        <a:ea typeface="ＭＳ Ｐゴシック" pitchFamily="-112" charset="-128"/>
                        <a:cs typeface="ＭＳ Ｐゴシック" pitchFamily="-112" charset="-128"/>
                      </a:rPr>
                      <m:t>244</m:t>
                    </m:r>
                  </m:oMath>
                </a14:m>
                <a:r>
                  <a:rPr lang="en-CH" sz="1800" kern="0" dirty="0">
                    <a:latin typeface="+mn-lt"/>
                    <a:ea typeface="ＭＳ Ｐゴシック" pitchFamily="-112" charset="-128"/>
                    <a:cs typeface="ＭＳ Ｐゴシック" pitchFamily="-112" charset="-128"/>
                  </a:rPr>
                  <a:t>)</a:t>
                </a:r>
              </a:p>
              <a:p>
                <a:r>
                  <a:rPr lang="en-CH" dirty="0"/>
                  <a:t>Training on 40960 points leads an almost perfect model</a:t>
                </a:r>
              </a:p>
              <a:p>
                <a:r>
                  <a:rPr lang="en-CH" dirty="0"/>
                  <a:t>Can we learn with less data?</a:t>
                </a: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endParaRPr lang="en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DCF049-8E26-0944-BAFA-8963DFF6E7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225" y="1124744"/>
                <a:ext cx="11328400" cy="4824536"/>
              </a:xfrm>
              <a:blipFill>
                <a:blip r:embed="rId6"/>
                <a:stretch>
                  <a:fillRect l="-1232" t="-1312" b="-2362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7F07C9A-5CD4-E3A6-97AA-65D9E045A585}"/>
              </a:ext>
            </a:extLst>
          </p:cNvPr>
          <p:cNvSpPr txBox="1"/>
          <p:nvPr/>
        </p:nvSpPr>
        <p:spPr bwMode="auto">
          <a:xfrm>
            <a:off x="3445099" y="-734096"/>
            <a:ext cx="6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endParaRPr lang="en-CH" sz="14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6" name="Picture 5" descr="\documentclass{article}&#10;\usepackage{amsmath}&#10;\usepackage{amsfonts}&#10;&#10;\newcommand{\base}{{base architecture}}&#10;\newcommand{\ii}{{(i)}}&#10;\newcommand{\tr}{\mathrm{tr}}&#10;\newcommand{\te}{\mathrm{te}}&#10;\newcommand{\norm}[1]{\left\lVert#1\right\rVert}&#10;\newcommand{\abs}[1]{\left\lvert#1\right\rvert}&#10;\newcommand{\seq}[1]{{\mathbf{#1}}}&#10;\newcommand{\R}{\mathbb{R}}&#10;\newcommand{\D}{D}&#10;\newcommand{\E}{\mathbb{E}} % expectation&#10;\newcommand{\nsamp}{N}&#10;\newcommand{\sys}{S}&#10;\newcommand{\npar}{n}&#10;\newcommand{\nsvd}{r}&#10;\newcommand{\latent}{z}&#10;\newcommand{\fullpar}{\theta}&#10;\newcommand{\Fullpar}{\Theta}&#10;\newcommand{\redpar}{\phi}&#10;\newcommand{\projpar}{\gamma}&#10;\newcommand{\encpar}{\psi}&#10;\newcommand{\Redpar}{\Phi}&#10;\newcommand{\diag}{\mathrm{diag}}&#10;\newcommand{\loss}{\mathcal{L}}&#10;\newtheorem{remark}{Remark}%[section]&#10;&#10;\newcommand{\AB}[1]{\textbf{\color{magenta}{[AB: #1]}}}&#10;\newcommand{\DD}{\mathcal{D}}&#10;\newcommand{\N}{\mathbb{N}}&#10;&#10;\pagestyle{empty}&#10;&#10;\begin{document}&#10;&#10;\begin{align*}&#10;%\overbrace{&#10;\begin{bmatrix} &#10;\dot{p}(t) \\ &#10;\dot{v}(t) \\ &#10;\dot{z}(t) &#10;\end{bmatrix}&#10;%}^{x(t)}&#10;&amp;=&#10;\begin{bmatrix} &#10;v(t) \\ &#10;\frac{1}{m_L} \left (u(t) -k_L p(t) - c_L v(t) - z(t)  \right) \\ &#10;\alpha v(t) - \beta(\gamma |v(t)| |z(t)|^{\nu -1} + \delta v(t) |z(t)|^\nu)&#10;\end{bmatrix}\\&#10;y(t) &amp;= p(t),&#10;\end{align*}&#10;&#10;\end{document}" title="IguanaTex Bitmap Display">
            <a:extLst>
              <a:ext uri="{FF2B5EF4-FFF2-40B4-BE49-F238E27FC236}">
                <a16:creationId xmlns:a16="http://schemas.microsoft.com/office/drawing/2014/main" id="{D06BF837-2002-7FE5-FA80-FB0CA84802A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67408" y="2234720"/>
            <a:ext cx="4464498" cy="1011953"/>
          </a:xfrm>
          <a:prstGeom prst="rect">
            <a:avLst/>
          </a:prstGeom>
        </p:spPr>
      </p:pic>
      <p:pic>
        <p:nvPicPr>
          <p:cNvPr id="9" name="Picture 8" descr="\documentclass{article}&#10;\usepackage{amsmath}&#10;\usepackage{amsfonts}&#10;&#10;\newcommand{\base}{{base architecture}}&#10;\newcommand{\ii}{{(i)}}&#10;\newcommand{\tr}{\mathrm{tr}}&#10;\newcommand{\te}{\mathrm{te}}&#10;\newcommand{\norm}[1]{\left\lVert#1\right\rVert}&#10;\newcommand{\abs}[1]{\left\lvert#1\right\rvert}&#10;\newcommand{\seq}[1]{{\mathbf{#1}}}&#10;\newcommand{\R}{\mathbb{R}}&#10;\newcommand{\D}{D}&#10;\newcommand{\E}{\mathbb{E}} % expectation&#10;\newcommand{\nsamp}{N}&#10;\newcommand{\sys}{S}&#10;\newcommand{\npar}{n}&#10;\newcommand{\nsvd}{r}&#10;\newcommand{\latent}{z}&#10;\newcommand{\fullpar}{\theta}&#10;\newcommand{\Fullpar}{\Theta}&#10;\newcommand{\redpar}{\phi}&#10;\newcommand{\projpar}{\gamma}&#10;\newcommand{\encpar}{\psi}&#10;\newcommand{\Redpar}{\Phi}&#10;\newcommand{\diag}{\mathrm{diag}}&#10;\newcommand{\loss}{\mathcal{L}}&#10;\newtheorem{remark}{Remark}%[section]&#10;&#10;\newcommand{\AB}[1]{\textbf{\color{magenta}{[AB: #1]}}}&#10;\newcommand{\DD}{\mathcal{D}}&#10;\newcommand{\N}{\mathbb{N}}&#10;&#10;\pagestyle{empty}&#10;&#10;\begin{document}&#10;&#10;\begin{align*}&#10;    x_{k+1} &amp;= A x_k + B u_x + N_f(x_k, u_k; W_f) \\&#10;    y_{k} &amp;= C x_k +  N_g(x_k; W_g),&#10;\end{align*}&#10;&#10;\end{document}" title="IguanaTex Bitmap Display">
            <a:extLst>
              <a:ext uri="{FF2B5EF4-FFF2-40B4-BE49-F238E27FC236}">
                <a16:creationId xmlns:a16="http://schemas.microsoft.com/office/drawing/2014/main" id="{9735A8B0-4576-F3C6-9DEB-31045E8EAAD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58636" y="3893393"/>
            <a:ext cx="3657600" cy="5943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F67185-9F2A-FA5E-B4D0-C88313A7D233}"/>
              </a:ext>
            </a:extLst>
          </p:cNvPr>
          <p:cNvSpPr txBox="1"/>
          <p:nvPr/>
        </p:nvSpPr>
        <p:spPr bwMode="auto">
          <a:xfrm>
            <a:off x="1692210" y="3531313"/>
            <a:ext cx="139301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CH" sz="14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Base architecture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2CE986-81F7-FE00-20F9-A06AC954BF69}"/>
              </a:ext>
            </a:extLst>
          </p:cNvPr>
          <p:cNvSpPr txBox="1"/>
          <p:nvPr/>
        </p:nvSpPr>
        <p:spPr bwMode="auto">
          <a:xfrm>
            <a:off x="1707422" y="1897401"/>
            <a:ext cx="140423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CH" sz="14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System dynamics</a:t>
            </a:r>
          </a:p>
        </p:txBody>
      </p:sp>
      <p:pic>
        <p:nvPicPr>
          <p:cNvPr id="4" name="Picture 3" descr="\documentclass{article}&#10;\usepackage{amsmath}&#10;\usepackage{amsfonts}&#10;\usepackage{booktabs}&#10;&#10;\newcommand{\base}{{base architecture}}&#10;\newcommand{\ii}{{(i)}}&#10;\newcommand{\tr}{\mathrm{tr}}&#10;\newcommand{\te}{\mathrm{te}}&#10;\newcommand{\norm}[1]{\left\lVert#1\right\rVert}&#10;\newcommand{\abs}[1]{\left\lvert#1\right\rvert}&#10;\newcommand{\seq}[1]{{\mathbf{#1}}}&#10;\newcommand{\R}{\mathbb{R}}&#10;\newcommand{\D}{D}&#10;\newcommand{\E}{\mathbb{E}} % expectation&#10;\newcommand{\nsamp}{N}&#10;\newcommand{\sys}{S}&#10;\newcommand{\npar}{n}&#10;\newcommand{\nsvd}{r}&#10;\newcommand{\latent}{z}&#10;\newcommand{\fullpar}{\theta}&#10;\newcommand{\Fullpar}{\Theta}&#10;\newcommand{\redpar}{\phi}&#10;\newcommand{\projpar}{\gamma}&#10;\newcommand{\encpar}{\psi}&#10;\newcommand{\Redpar}{\Phi}&#10;\newcommand{\diag}{\mathrm{diag}}&#10;\newcommand{\loss}{\mathcal{L}}&#10;\newtheorem{remark}{Remark}%[section]&#10;&#10;\newcommand{\AB}[1]{\textbf{\color{magenta}{[AB: #1]}}}&#10;\newcommand{\DD}{\mathcal{D}}&#10;\newcommand{\N}{\mathbb{N}}&#10;&#10;\pagestyle{empty}&#10;&#10;\begin{document}&#10;&#10;\begin{table}[!ht]&#10;\setlength{\tabcolsep}{4pt}&#10;\centering&#10;\caption{Coefficients of the Bouc-Wen system.}&#10;\small&#10;\begin{tabular}{c||cccccccc}&#10;\toprule&#10; &amp; $m_L$ &amp; $c_L$ &amp; $k_L$ &amp; $\alpha$ &amp; $\beta$ &amp; $\gamma$ &amp; $\delta$ &amp;$\nu$\\&#10;\midrule&#10;nom &amp; 2 &amp; 10 &amp;$5.0\times 10^4$ &amp; $5.0\times 10^4$ &amp; 1000 &amp; 0.8 &amp; -1.1 &amp; 1\\&#10;min &amp; 1 &amp; 5 &amp; $2.5\times 10^4$ &amp; $2.5\times 10^4$ &amp; $500$ &amp; 0.5 &amp; -1.5 &amp;1\\&#10;max &amp; 3 &amp; 15 &amp; $7.5\times 10^4$ &amp; $7.5\times 10^4$ &amp; 4500 &amp; 0.9 &amp; -0.5 &amp;1\\&#10;\bottomrule&#10;\end{tabular} &#10;\end{table}&#10;&#10;\end{document}" title="IguanaTex Bitmap Display">
            <a:extLst>
              <a:ext uri="{FF2B5EF4-FFF2-40B4-BE49-F238E27FC236}">
                <a16:creationId xmlns:a16="http://schemas.microsoft.com/office/drawing/2014/main" id="{51DDAD7C-7D4F-823E-6F8F-D2466CA1536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059710" y="1988840"/>
            <a:ext cx="3705305" cy="10119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AE4D92-1E1F-AF9C-5BAC-508382F529F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76120" y="3423591"/>
            <a:ext cx="3657600" cy="28813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86C076-31EA-A088-83AB-509B567F432B}"/>
              </a:ext>
            </a:extLst>
          </p:cNvPr>
          <p:cNvSpPr txBox="1"/>
          <p:nvPr/>
        </p:nvSpPr>
        <p:spPr bwMode="auto">
          <a:xfrm>
            <a:off x="8365115" y="3282727"/>
            <a:ext cx="114454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CH" sz="14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Test fit: 98.9%</a:t>
            </a:r>
          </a:p>
        </p:txBody>
      </p:sp>
    </p:spTree>
    <p:extLst>
      <p:ext uri="{BB962C8B-B14F-4D97-AF65-F5344CB8AC3E}">
        <p14:creationId xmlns:p14="http://schemas.microsoft.com/office/powerpoint/2010/main" val="788071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0C0892-9E4E-9221-9705-D6B9FF659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9F8CE-959F-6915-28B7-8DAC57265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375" y="548680"/>
            <a:ext cx="11328400" cy="719137"/>
          </a:xfrm>
        </p:spPr>
        <p:txBody>
          <a:bodyPr/>
          <a:lstStyle/>
          <a:p>
            <a:r>
              <a:rPr lang="en-CH" dirty="0"/>
              <a:t>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859E97-2723-7B17-B2B1-2E55B5FC77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8225" y="1124744"/>
                <a:ext cx="11328400" cy="4752528"/>
              </a:xfrm>
            </p:spPr>
            <p:txBody>
              <a:bodyPr/>
              <a:lstStyle/>
              <a:p>
                <a:r>
                  <a:rPr lang="en-CH" dirty="0"/>
                  <a:t>We learn a reduced-order architecture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H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CH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CH" dirty="0"/>
                  <a:t> free parameters over a meta dataset generated by random systems with parameters in the min-max range</a:t>
                </a:r>
              </a:p>
              <a:p>
                <a:pPr marL="0" indent="0">
                  <a:buNone/>
                </a:pPr>
                <a:endParaRPr lang="en-CH" dirty="0"/>
              </a:p>
              <a:p>
                <a:endParaRPr lang="en-CH" dirty="0"/>
              </a:p>
              <a:p>
                <a:r>
                  <a:rPr lang="en-CH" dirty="0"/>
                  <a:t>We then fit reduced-order models to sequences of increasing length 100, 200, …, 5000</a:t>
                </a:r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endParaRPr lang="en-CH" dirty="0"/>
              </a:p>
              <a:p>
                <a:pPr marL="0" indent="0">
                  <a:buNone/>
                </a:pPr>
                <a:br>
                  <a:rPr lang="en-CH" dirty="0"/>
                </a:br>
                <a:endParaRPr lang="en-CH" dirty="0"/>
              </a:p>
              <a:p>
                <a:pPr marL="0" indent="0">
                  <a:buNone/>
                </a:pPr>
                <a:r>
                  <a:rPr lang="en-CH" dirty="0"/>
                  <a:t>Reduced-order training is way more data- and compute-efficient</a:t>
                </a: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endParaRPr lang="en-CH" dirty="0"/>
              </a:p>
              <a:p>
                <a:pPr marL="0" indent="0">
                  <a:buNone/>
                </a:pPr>
                <a:endParaRPr lang="en-CH" sz="1800" i="1" kern="0" dirty="0">
                  <a:latin typeface="Cambria Math" panose="02040503050406030204" pitchFamily="18" charset="0"/>
                  <a:ea typeface="ＭＳ Ｐゴシック" pitchFamily="-112" charset="-128"/>
                </a:endParaRPr>
              </a:p>
              <a:p>
                <a:pPr marL="0" indent="0">
                  <a:buNone/>
                </a:pP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endParaRPr lang="en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859E97-2723-7B17-B2B1-2E55B5FC77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225" y="1124744"/>
                <a:ext cx="11328400" cy="4752528"/>
              </a:xfrm>
              <a:blipFill>
                <a:blip r:embed="rId2"/>
                <a:stretch>
                  <a:fillRect l="-1232" t="-1867" b="-4000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27A7064-8930-1F8B-4DF7-D2DE5B1E52B3}"/>
              </a:ext>
            </a:extLst>
          </p:cNvPr>
          <p:cNvSpPr txBox="1"/>
          <p:nvPr/>
        </p:nvSpPr>
        <p:spPr bwMode="auto">
          <a:xfrm>
            <a:off x="3445099" y="-734096"/>
            <a:ext cx="6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endParaRPr lang="en-CH" sz="14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492455C-6DBF-35A8-3B7B-959A1CF74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4" y="2996952"/>
            <a:ext cx="4881736" cy="244086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FBE32A7-179B-FEA6-DE97-96FD0C44B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960" y="2996952"/>
            <a:ext cx="4881735" cy="244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622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39240-673E-5EF5-6B6C-7AE3DF35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Conclusions and future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4467E-175F-C95A-7AB0-9365AA5F8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Meta-learning of a reduced architecture as a manifold in the parameter space</a:t>
            </a:r>
          </a:p>
          <a:p>
            <a:r>
              <a:rPr lang="en-CH" dirty="0"/>
              <a:t>Experiments on a common system identification benchmark</a:t>
            </a:r>
          </a:p>
          <a:p>
            <a:r>
              <a:rPr lang="en-CH" dirty="0"/>
              <a:t>Increased data- and compute-efficiency</a:t>
            </a:r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r>
              <a:rPr lang="en-CH" dirty="0"/>
              <a:t>Future developments:</a:t>
            </a:r>
          </a:p>
          <a:p>
            <a:r>
              <a:rPr lang="en-CH" dirty="0"/>
              <a:t>Variational setting to learn a reduced-order prior over the manifold</a:t>
            </a:r>
          </a:p>
          <a:p>
            <a:r>
              <a:rPr lang="en-CH" dirty="0"/>
              <a:t>Combination with physics-inspired modeling</a:t>
            </a:r>
          </a:p>
          <a:p>
            <a:r>
              <a:rPr lang="en-CH" dirty="0"/>
              <a:t>Extensions to state estimation and control</a:t>
            </a:r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081876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381B43B-3FB1-0F1F-023C-E87394889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E7CF-0B3E-801C-AF78-EAFC0AA2B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375" y="548680"/>
            <a:ext cx="11328400" cy="719137"/>
          </a:xfrm>
        </p:spPr>
        <p:txBody>
          <a:bodyPr/>
          <a:lstStyle/>
          <a:p>
            <a:r>
              <a:rPr lang="en-CH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5834F-4A2D-E059-8C12-D7B7F0730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225" y="1124744"/>
            <a:ext cx="11328400" cy="4752528"/>
          </a:xfrm>
        </p:spPr>
        <p:txBody>
          <a:bodyPr/>
          <a:lstStyle/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r>
              <a:rPr lang="en-CH" dirty="0"/>
              <a:t>Training of the base architecture:</a:t>
            </a:r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r>
              <a:rPr lang="en-CH" dirty="0"/>
              <a:t>Interestingly, the Hessian of the loss at the optimum</a:t>
            </a:r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endParaRPr lang="en-CH" dirty="0"/>
          </a:p>
          <a:p>
            <a:pPr marL="0" indent="0">
              <a:buNone/>
            </a:pPr>
            <a:r>
              <a:rPr lang="en-GB" dirty="0"/>
              <a:t>i</a:t>
            </a:r>
            <a:r>
              <a:rPr lang="en-CH" dirty="0"/>
              <a:t>s close to degenerate in many directions. This further motivates</a:t>
            </a:r>
            <a:br>
              <a:rPr lang="en-CH" dirty="0"/>
            </a:br>
            <a:r>
              <a:rPr lang="en-CH" dirty="0"/>
              <a:t>reduced-order architectures</a:t>
            </a:r>
          </a:p>
          <a:p>
            <a:endParaRPr lang="en-CH" dirty="0"/>
          </a:p>
          <a:p>
            <a:endParaRPr lang="en-CH" dirty="0"/>
          </a:p>
          <a:p>
            <a:endParaRPr lang="en-CH" dirty="0"/>
          </a:p>
          <a:p>
            <a:endParaRPr lang="en-CH" dirty="0"/>
          </a:p>
          <a:p>
            <a:pPr marL="0" indent="0">
              <a:buNone/>
            </a:pPr>
            <a:br>
              <a:rPr lang="en-CH" dirty="0"/>
            </a:br>
            <a:endParaRPr lang="en-CH" dirty="0"/>
          </a:p>
          <a:p>
            <a:pPr marL="0" indent="0">
              <a:buNone/>
            </a:pPr>
            <a:br>
              <a:rPr lang="en-CH" dirty="0"/>
            </a:br>
            <a:br>
              <a:rPr lang="en-CH" dirty="0"/>
            </a:br>
            <a:br>
              <a:rPr lang="en-CH" dirty="0"/>
            </a:br>
            <a:br>
              <a:rPr lang="en-CH" dirty="0"/>
            </a:br>
            <a:br>
              <a:rPr lang="en-CH" dirty="0"/>
            </a:br>
            <a:br>
              <a:rPr lang="en-CH" dirty="0"/>
            </a:br>
            <a:endParaRPr lang="en-CH" dirty="0"/>
          </a:p>
          <a:p>
            <a:pPr marL="0" indent="0">
              <a:buNone/>
            </a:pPr>
            <a:endParaRPr lang="en-CH" sz="1800" i="1" kern="0" dirty="0">
              <a:latin typeface="Cambria Math" panose="02040503050406030204" pitchFamily="18" charset="0"/>
              <a:ea typeface="ＭＳ Ｐゴシック" pitchFamily="-112" charset="-128"/>
            </a:endParaRPr>
          </a:p>
          <a:p>
            <a:pPr marL="0" indent="0">
              <a:buNone/>
            </a:pPr>
            <a:br>
              <a:rPr lang="en-CH" dirty="0"/>
            </a:br>
            <a:br>
              <a:rPr lang="en-CH" dirty="0"/>
            </a:br>
            <a:br>
              <a:rPr lang="en-CH" dirty="0"/>
            </a:br>
            <a:br>
              <a:rPr lang="en-CH" dirty="0"/>
            </a:br>
            <a:br>
              <a:rPr lang="en-CH" dirty="0"/>
            </a:br>
            <a:br>
              <a:rPr lang="en-CH" dirty="0"/>
            </a:br>
            <a:endParaRPr lang="en-C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CEBC11-7552-C94F-41A3-456CEC37086D}"/>
              </a:ext>
            </a:extLst>
          </p:cNvPr>
          <p:cNvSpPr txBox="1"/>
          <p:nvPr/>
        </p:nvSpPr>
        <p:spPr bwMode="auto">
          <a:xfrm>
            <a:off x="3445099" y="-734096"/>
            <a:ext cx="6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endParaRPr lang="en-CH" sz="14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7EE289-9D83-3E4A-BBA9-347CAA894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4146" y="1087545"/>
            <a:ext cx="3722621" cy="2246789"/>
          </a:xfrm>
          <a:prstGeom prst="rect">
            <a:avLst/>
          </a:prstGeom>
        </p:spPr>
      </p:pic>
      <p:pic>
        <p:nvPicPr>
          <p:cNvPr id="8" name="Picture 7" descr="\documentclass{article}&#10;\usepackage{amsmath}&#10;\usepackage{amsfonts}&#10;\newcommand{\seq}[1]{{\mathbf{#1}}}&#10;\newcommand{\redpar}{\phi}&#10;\newcommand{\projpar}{\gamma}&#10;\newcommand{\R}{\mathbb{R}}&#10;&#10;&#10;\pagestyle{empty}&#10;&#10;\begin{document}&#10;&#10;\begin{equation*}&#10;\hat \theta = \arg \min_\theta \mathcal{L}(\seq{y}^*, F(\seq{u}^*; \theta)&#10;\end{equation*}&#10;&#10;\end{document}" title="IguanaTex Bitmap Display">
            <a:extLst>
              <a:ext uri="{FF2B5EF4-FFF2-40B4-BE49-F238E27FC236}">
                <a16:creationId xmlns:a16="http://schemas.microsoft.com/office/drawing/2014/main" id="{CA899B03-1710-A67C-7803-528D3A9715F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39416" y="1902967"/>
            <a:ext cx="2583180" cy="365760"/>
          </a:xfrm>
          <a:prstGeom prst="rect">
            <a:avLst/>
          </a:prstGeom>
        </p:spPr>
      </p:pic>
      <p:pic>
        <p:nvPicPr>
          <p:cNvPr id="15" name="Picture 14" descr="\documentclass{article}&#10;\usepackage{amsmath}&#10;\usepackage{amsfonts}&#10;\newcommand{\seq}[1]{{\mathbf{#1}}}&#10;\newcommand{\redpar}{\phi}&#10;\newcommand{\projpar}{\gamma}&#10;\newcommand{\R}{\mathbb{R}}&#10;\newcommand{\loss}{\mathcal{L}}&#10;&#10;&#10;\pagestyle{empty}&#10;&#10;\begin{document}&#10;&#10;\begin{equation*}&#10;H(\hat \theta) = \left . \frac{\partial^2 \loss}{\partial \theta^2} \right |_{\theta = \hat \theta}&#10;\end{equation*}&#10;&#10;\end{document}" title="IguanaTex Bitmap Display">
            <a:extLst>
              <a:ext uri="{FF2B5EF4-FFF2-40B4-BE49-F238E27FC236}">
                <a16:creationId xmlns:a16="http://schemas.microsoft.com/office/drawing/2014/main" id="{36CA49AD-BB64-25CE-A3C3-404D776FB88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39416" y="3562059"/>
            <a:ext cx="1668780" cy="571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2E5E579-A921-87B2-1BDD-C409FCF72B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176" y="3847809"/>
            <a:ext cx="3486591" cy="232749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F36F330-2A1B-3880-1E57-B19AA3F0D92C}"/>
              </a:ext>
            </a:extLst>
          </p:cNvPr>
          <p:cNvSpPr txBox="1"/>
          <p:nvPr/>
        </p:nvSpPr>
        <p:spPr bwMode="auto">
          <a:xfrm>
            <a:off x="9048328" y="3632365"/>
            <a:ext cx="123067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CH" sz="14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Test fit: 98.9%</a:t>
            </a:r>
          </a:p>
        </p:txBody>
      </p:sp>
    </p:spTree>
    <p:extLst>
      <p:ext uri="{BB962C8B-B14F-4D97-AF65-F5344CB8AC3E}">
        <p14:creationId xmlns:p14="http://schemas.microsoft.com/office/powerpoint/2010/main" val="634462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2C4E7FCC-361A-18BD-A6FA-865AD0A0A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9565-DA0D-3734-C930-FCB353835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375" y="548680"/>
            <a:ext cx="11328400" cy="719137"/>
          </a:xfrm>
        </p:spPr>
        <p:txBody>
          <a:bodyPr/>
          <a:lstStyle/>
          <a:p>
            <a:r>
              <a:rPr lang="en-CH" dirty="0"/>
              <a:t>Methodology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40F84A-9B7F-3689-6347-5B6E10FE08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8225" y="1124744"/>
                <a:ext cx="11328400" cy="4321175"/>
              </a:xfrm>
            </p:spPr>
            <p:txBody>
              <a:bodyPr/>
              <a:lstStyle/>
              <a:p>
                <a:r>
                  <a:rPr lang="en-CH" dirty="0"/>
                  <a:t>In principle, the best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CH" dirty="0"/>
                  <a:t> could be the result of a </a:t>
                </a:r>
                <a:r>
                  <a:rPr lang="en-CH" b="1" dirty="0"/>
                  <a:t>bi-level</a:t>
                </a:r>
                <a:r>
                  <a:rPr lang="en-CH" dirty="0"/>
                  <a:t> optimization:</a:t>
                </a: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br>
                  <a:rPr lang="en-CH" dirty="0"/>
                </a:br>
                <a:endParaRPr lang="en-CH" dirty="0"/>
              </a:p>
              <a:p>
                <a:r>
                  <a:rPr lang="en-CH" dirty="0"/>
                  <a:t>We replace the inner optimization with an auxiliary network</a:t>
                </a:r>
                <a:br>
                  <a:rPr lang="en-CH" dirty="0"/>
                </a:br>
                <a:br>
                  <a:rPr lang="en-CH" dirty="0"/>
                </a:br>
                <a:endParaRPr lang="en-CH" dirty="0"/>
              </a:p>
              <a:p>
                <a:pPr marL="0" indent="0">
                  <a:buNone/>
                </a:pPr>
                <a:r>
                  <a:rPr lang="en-CH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40F84A-9B7F-3689-6347-5B6E10FE08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225" y="1124744"/>
                <a:ext cx="11328400" cy="4321175"/>
              </a:xfrm>
              <a:blipFill>
                <a:blip r:embed="rId4"/>
                <a:stretch>
                  <a:fillRect l="-1120" t="-1466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AE6232F-1DD4-057A-14C1-2ADF736CACB2}"/>
              </a:ext>
            </a:extLst>
          </p:cNvPr>
          <p:cNvSpPr txBox="1"/>
          <p:nvPr/>
        </p:nvSpPr>
        <p:spPr bwMode="auto">
          <a:xfrm>
            <a:off x="3445099" y="-734096"/>
            <a:ext cx="6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endParaRPr lang="en-CH" sz="14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25" name="Picture 24" descr="\documentclass{article}&#10;\usepackage{amsmath}&#10;\usepackage{amsfonts}&#10;&#10;\newcommand{\base}{{base architecture}}&#10;\newcommand{\ii}{{(i)}}&#10;\newcommand{\tr}{\mathrm{tr}}&#10;\newcommand{\te}{\mathrm{te}}&#10;\newcommand{\norm}[1]{\left\lVert#1\right\rVert}&#10;\newcommand{\abs}[1]{\left\lvert#1\right\rvert}&#10;\newcommand{\seq}[1]{{\mathbf{#1}}}&#10;\newcommand{\R}{\mathbb{R}}&#10;\newcommand{\D}{D}&#10;\newcommand{\E}{\mathbb{E}} % expectation&#10;\newcommand{\nsamp}{N}&#10;\newcommand{\sys}{S}&#10;\newcommand{\npar}{n}&#10;\newcommand{\nsvd}{r}&#10;\newcommand{\latent}{z}&#10;\newcommand{\fullpar}{\theta}&#10;\newcommand{\Fullpar}{\Theta}&#10;\newcommand{\redpar}{\phi}&#10;\newcommand{\projpar}{\gamma}&#10;\newcommand{\encpar}{\psi}&#10;\newcommand{\Redpar}{\Phi}&#10;\newcommand{\diag}{\mathrm{diag}}&#10;\newcommand{\loss}{\mathcal{L}}&#10;\newtheorem{remark}{Remark}%[section]&#10;&#10;\newcommand{\AB}[1]{\textbf{\color{magenta}{[AB: #1]}}}&#10;\newcommand{\DD}{\mathcal{D}}&#10;\newcommand{\N}{\mathbb{N}}&#10;&#10;\pagestyle{empty}&#10;&#10;\begin{document}&#10;&#10;\begin{align*}&#10;\hat \projpar &amp;= \arg \min_{\projpar} \E_{p(\D)}&#10;\big [ \loss({\seq y}_\te, \hat {\seq y}_\te) \big ]\\&#10;\hat{\seq{y}}_\te  &amp;= F\left(&#10;  \seq{u}_\te ; \,&#10;  P_{\projpar} ( \hat \redpar  )&#10;\right)\\&#10;  \hat \redpar &amp;=&#10;  \text{SYSID}(\seq u_\tr , \seq y_\tr; \projpar )&#10;\end{align*}&#10;&#10;\end{document}" title="IguanaTex Bitmap Display">
            <a:extLst>
              <a:ext uri="{FF2B5EF4-FFF2-40B4-BE49-F238E27FC236}">
                <a16:creationId xmlns:a16="http://schemas.microsoft.com/office/drawing/2014/main" id="{3D1FF1A2-F4B4-AF7B-CB1D-ABBFCDF5478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351584" y="1805311"/>
            <a:ext cx="3108960" cy="1257300"/>
          </a:xfrm>
          <a:prstGeom prst="rect">
            <a:avLst/>
          </a:prstGeom>
        </p:spPr>
      </p:pic>
      <p:pic>
        <p:nvPicPr>
          <p:cNvPr id="8" name="Picture 7" descr="\documentclass{article}&#10;\usepackage{amsmath}&#10;\usepackage{amsfonts}&#10;&#10;\newcommand{\base}{{base architecture}}&#10;\newcommand{\ii}{{(i)}}&#10;\newcommand{\tr}{\mathrm{tr}}&#10;\newcommand{\te}{\mathrm{te}}&#10;\newcommand{\norm}[1]{\left\lVert#1\right\rVert}&#10;\newcommand{\abs}[1]{\left\lvert#1\right\rvert}&#10;\newcommand{\seq}[1]{{\mathbf{#1}}}&#10;\newcommand{\R}{\mathbb{R}}&#10;\newcommand{\D}{D}&#10;\newcommand{\E}{\mathbb{E}} % expectation&#10;\newcommand{\nsamp}{N}&#10;\newcommand{\sys}{S}&#10;\newcommand{\npar}{n}&#10;\newcommand{\nsvd}{r}&#10;\newcommand{\latent}{z}&#10;\newcommand{\fullpar}{\theta}&#10;\newcommand{\Fullpar}{\Theta}&#10;\newcommand{\redpar}{\phi}&#10;\newcommand{\projpar}{\gamma}&#10;\newcommand{\encpar}{\psi}&#10;\newcommand{\Redpar}{\Phi}&#10;\newcommand{\diag}{\mathrm{diag}}&#10;\newcommand{\loss}{\mathcal{L}}&#10;\newtheorem{remark}{Remark}%[section]&#10;&#10;\newcommand{\AB}[1]{\textbf{\color{magenta}{[AB: #1]}}}&#10;\newcommand{\DD}{\mathcal{D}}&#10;\newcommand{\N}{\mathbb{N}}&#10;&#10;\pagestyle{empty}&#10;&#10;\begin{document}&#10;&#10;\begin{align*}&#10;\hat \projpar, \hat \encpar &amp;= \arg \min_{\projpar, \encpar} \E_{p(\D)} &#10;\overbrace{\big [ \loss({\seq y}_\te, \hat {\seq y}_\te,) \big ]}^{J(\gamma, \psi)} \label{eq:hypernet_a}\\&#10;\hat{\seq{y}}_\te  &amp;= F\left(&#10;  \seq{u}_\te ; \,&#10;  P_{\projpar} ( \hat \redpar )&#10;\right) \\&#10;  \hat \redpar &amp;=&#10;  E_{\psi}(\seq u_\tr , \seq y_\tr )&#10;\end{align*}&#10;&#10;\end{document}" title="IguanaTex Bitmap Display">
            <a:extLst>
              <a:ext uri="{FF2B5EF4-FFF2-40B4-BE49-F238E27FC236}">
                <a16:creationId xmlns:a16="http://schemas.microsoft.com/office/drawing/2014/main" id="{6FB0CE56-C7C2-0840-8E12-02640907E82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135560" y="3638675"/>
            <a:ext cx="3406140" cy="162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051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"/>
  <p:tag name="ORIGINALWIDTH" val="71"/>
  <p:tag name="OUTPUTTYPE" val="PDF"/>
  <p:tag name="IGUANATEXVERSION" val="160"/>
  <p:tag name="LATEXADDIN" val="\documentclass{article}&#10;\usepackage{amsmath}&#10;\usepackage{amsfonts}&#10;&#10;\pagestyle{empty}&#10;&#10;\begin{document}&#10;&#10;\begin{align*}&#10;x^+ &amp;= N_f(x, u; \theta) \\&#10;y &amp;= N_g(x; \theta)&#10;\end{align*}&#10;&#10;\end{document}"/>
  <p:tag name="IGUANATEXSIZE" val="18"/>
  <p:tag name="IGUANATEXCURSOR" val="123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"/>
  <p:tag name="ORIGINALWIDTH" val="157"/>
  <p:tag name="OUTPUTTYPE" val="PDF"/>
  <p:tag name="IGUANATEXVERSION" val="160"/>
  <p:tag name="LATEXADDIN" val="\documentclass{article}&#10;\usepackage{amsmath}&#10;\usepackage{amsfonts}&#10;&#10;\pagestyle{empty}&#10;&#10;\begin{document}&#10;&#10;\begin{align*}&#10;\dot G(t) &amp;= -p_1\big(G(t) - G_b\big) - X(t) G(t),\\&#10;\dot X(t) &amp;= -p_2 X(t) + p_3 I(t),\\&#10;\dot I(t) &amp;= \gamma \big(G(t) - h\big)t - nI(t) \\&#10;y(t) &amp;= G(t) &#10;\end{align*}&#10;&#10;\end{document}"/>
  <p:tag name="IGUANATEXSIZE" val="18"/>
  <p:tag name="IGUANATEXCURSOR" val="260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"/>
  <p:tag name="ORIGINALWIDTH" val="87"/>
  <p:tag name="OUTPUTTYPE" val="PDF"/>
  <p:tag name="IGUANATEXVERSION" val="160"/>
  <p:tag name="LATEXADDIN" val="\documentclass{article}&#10;\usepackage{amsmath}&#10;\usepackage{amsfonts}&#10;&#10;\pagestyle{empty}&#10;&#10;\begin{document}&#10;&#10;\begin{align*}&#10;x^+ &amp;= N_f(x, u; P(\phi)) \\&#10;y &amp;= N_g(x; P(\phi)) \\&#10;%P &amp;:  \mathbb{R}^{n_\phi} \rightarrow \mathbb{R}^{n_W} \\&#10;%n_\phi &amp;\ll n_\theta&#10;\end{align*}&#10;&#10;\end{document}"/>
  <p:tag name="IGUANATEXSIZE" val="20"/>
  <p:tag name="IGUANATEXCURSOR" val="120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112"/>
  <p:tag name="OUTPUTTYPE" val="PDF"/>
  <p:tag name="IGUANATEXVERSION" val="160"/>
  <p:tag name="LATEXADDIN" val="\documentclass{article}&#10;\usepackage{amsmath}&#10;\usepackage{amsfonts}&#10;&#10;\pagestyle{empty}&#10;&#10;\begin{document}&#10;&#10;\begin{equation*}&#10;P :  \mathbb{R}^{n_\phi} \rightarrow \mathbb{R}^{n_\theta}, \;\; n_\phi \ll {n_\theta} \\&#10;\end{equation*}&#10;&#10;\end{document}"/>
  <p:tag name="IGUANATEXSIZE" val="18"/>
  <p:tag name="IGUANATEXCURSOR" val="188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"/>
  <p:tag name="ORIGINALWIDTH" val="71"/>
  <p:tag name="OUTPUTTYPE" val="PDF"/>
  <p:tag name="IGUANATEXVERSION" val="160"/>
  <p:tag name="LATEXADDIN" val="\documentclass{article}&#10;\usepackage{amsmath}&#10;\usepackage{amsfonts}&#10;&#10;\pagestyle{empty}&#10;&#10;\begin{document}&#10;&#10;\begin{align*}&#10;x^+ &amp;= N_f(x, u; \theta) \\&#10;y &amp;= N_g(x; \theta)&#10;\end{align*}&#10;&#10;\end{document}"/>
  <p:tag name="IGUANATEXSIZE" val="18"/>
  <p:tag name="IGUANATEXCURSOR" val="123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"/>
  <p:tag name="ORIGINALWIDTH" val="92"/>
  <p:tag name="OUTPUTTYPE" val="PDF"/>
  <p:tag name="IGUANATEXVERSION" val="160"/>
  <p:tag name="LATEXADDIN" val="\documentclass{article}&#10;\usepackage{amsmath}&#10;\usepackage{amsfonts}&#10;&#10;\pagestyle{empty}&#10;&#10;\begin{document}&#10;&#10;\begin{align*}&#10;\dot x_1 &amp;= -k_1 \sqrt{x_1} + k_4 u\\&#10;\dot x_2 &amp;= k_2 \sqrt{x_1} - k_3 \sqrt{x_2}\\&#10;y &amp;= x_2 &#10;\end{align*}&#10;&#10;\end{document}"/>
  <p:tag name="IGUANATEXSIZE" val="18"/>
  <p:tag name="IGUANATEXCURSOR" val="128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"/>
  <p:tag name="ORIGINALWIDTH" val="87"/>
  <p:tag name="OUTPUTTYPE" val="PDF"/>
  <p:tag name="IGUANATEXVERSION" val="160"/>
  <p:tag name="LATEXADDIN" val="\documentclass{article}&#10;\usepackage{amsmath}&#10;\usepackage{amsfonts}&#10;&#10;\pagestyle{empty}&#10;&#10;\begin{document}&#10;&#10;\begin{align*}&#10;x^+ &amp;= N_f(x, u; P(\phi)) \\&#10;y &amp;= N_g(x; P(\phi)) \\&#10;%P &amp;:  \mathbb{R}^{n_\phi} \rightarrow \mathbb{R}^{n_W} \\&#10;%n_\phi &amp;\ll n_\theta&#10;\end{align*}&#10;&#10;\end{document}"/>
  <p:tag name="IGUANATEXSIZE" val="20"/>
  <p:tag name="IGUANATEXCURSOR" val="120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112"/>
  <p:tag name="OUTPUTTYPE" val="PDF"/>
  <p:tag name="IGUANATEXVERSION" val="160"/>
  <p:tag name="LATEXADDIN" val="\documentclass{article}&#10;\usepackage{amsmath}&#10;\usepackage{amsfonts}&#10;&#10;\pagestyle{empty}&#10;&#10;\begin{document}&#10;&#10;\begin{equation*}&#10;P :  \mathbb{R}^{n_\phi} \rightarrow \mathbb{R}^{n_\theta}, \;\; n_\phi \ll {n_\theta} \\&#10;\end{equation*}&#10;&#10;\end{document}"/>
  <p:tag name="IGUANATEXSIZE" val="18"/>
  <p:tag name="IGUANATEXCURSOR" val="188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"/>
  <p:tag name="ORIGINALWIDTH" val="205"/>
  <p:tag name="OUTPUTTYPE" val="PDF"/>
  <p:tag name="IGUANATEXVERSION" val="160"/>
  <p:tag name="LATEXADDIN" val="\documentclass{article}&#10;\usepackage{amsmath}&#10;\usepackage{amsfonts}&#10;&#10;\newcommand{\DD}{\mathcal{D}}&#10;\newcommand{\N}{\mathbb{N}}&#10;\newcommand{\ii}{{(i)}}&#10;\newcommand{\seq}[1]{{\mathbf{#1}}}&#10;&#10;\pagestyle{empty}&#10;&#10;\begin{document}&#10;&#10;\begin{equation*}  &#10;\label{eq:dataset_stream}&#10;\DD=\{D^\ii\}_{i\in\N}, \text{ where } D^\ii = (\seq u_{0:N-1}^\ii, \seq y_{0:N-1}^\ii).%,\,\, i=0,1,\dots.&#10;\end{equation*}&#10;&#10;\end{document}"/>
  <p:tag name="IGUANATEXSIZE" val="18"/>
  <p:tag name="IGUANATEXCURSOR" val="392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94"/>
  <p:tag name="OUTPUTTYPE" val="PDF"/>
  <p:tag name="IGUANATEXVERSION" val="160"/>
  <p:tag name="LATEXADDIN" val="\documentclass{article}&#10;\usepackage{amsmath}&#10;\usepackage{amsfonts}&#10;&#10;\newcommand{\ii}{{(i)}}&#10;\newcommand{\tr}{\mathrm{tr}}&#10;\newcommand{\te}{\mathrm{te}}&#10;\newcommand{\norm}[1]{\left\lVert#1\right\rVert}&#10;\newcommand{\abs}[1]{\left\lvert#1\right\rvert}&#10;\newcommand{\seq}[1]{{\mathbf{#1}}}&#10;\newcommand{\R}{\mathbb{R}}&#10;\newcommand{\D}{D}&#10;\newcommand{\E}{\mathbb{E}} % expectation&#10;\newcommand{\nsamp}{N}&#10;\newcommand{\sys}{S}&#10;\newcommand{\npar}{n}&#10;\newcommand{\nsvd}{r}&#10;\newcommand{\latent}{z}&#10;\newcommand{\fullpar}{\theta}&#10;\newcommand{\Fullpar}{\Theta}&#10;\newcommand{\redpar}{\phi}&#10;\newcommand{\projpar}{\gamma}&#10;\newcommand{\encpar}{\psi}&#10;\newcommand{\Redpar}{\Phi}&#10;\newcommand{\diag}{\mathrm{diag}}&#10;\newcommand{\loss}{\mathcal{L}}&#10;&#10;\pagestyle{empty}&#10;&#10;\begin{document}&#10;&#10;\begin{equation*}&#10;\hat {\seq{y}} = F(\seq{u}; \fullpar),\;  \fullpar \in \R^{n_\fullpar}.&#10;\end{equation*}&#10;&#10;\end{document}"/>
  <p:tag name="IGUANATEXSIZE" val="18"/>
  <p:tag name="IGUANATEXCURSOR" val="850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"/>
  <p:tag name="ORIGINALWIDTH" val="108"/>
  <p:tag name="OUTPUTTYPE" val="PDF"/>
  <p:tag name="IGUANATEXVERSION" val="160"/>
  <p:tag name="LATEXADDIN" val="\documentclass{article}&#10;\usepackage{amsmath}&#10;\usepackage{amsfonts}&#10;\newcommand{\seq}[1]{{\mathbf{#1}}}&#10;\newcommand{\redpar}{\phi}&#10;\newcommand{\projpar}{\gamma}&#10;\newcommand{\R}{\mathbb{R}}&#10;&#10;&#10;\pagestyle{empty}&#10;&#10;\begin{document}&#10;&#10;\begin{equation*}&#10;\hat \theta = \arg \min_\theta \mathcal{L}(\seq{y}, F(\seq{u}; \theta))&#10;\end{equation*}&#10;&#10;\end{document}"/>
  <p:tag name="IGUANATEXSIZE" val="18"/>
  <p:tag name="IGUANATEXCURSOR" val="316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"/>
  <p:tag name="ORIGINALWIDTH" val="181"/>
  <p:tag name="OUTPUTTYPE" val="PDF"/>
  <p:tag name="IGUANATEXVERSION" val="160"/>
  <p:tag name="LATEXADDIN" val="\documentclass{article}&#10;\usepackage{amsmath}&#10;\usepackage{amsfonts}&#10;\newcommand{\latent}{z}&#10;\newcommand{\seq}[1]{{\mathbf{#1}}}&#10;&#10;\pagestyle{empty}&#10;&#10;\begin{document}&#10;&#10;\begin{equation*}&#10;p(D) = p(\seq{u}, \seq{y}) = p(\seq{u}) &#10;%\overbrace{&#10;\int_\latent p(\latent)  &#10;p(\seq{y} | \seq{u}, \latent) \; d\latent,&#10;\end{equation*}&#10;&#10;\end{document}"/>
  <p:tag name="IGUANATEXSIZE" val="18"/>
  <p:tag name="IGUANATEXCURSOR" val="322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"/>
  <p:tag name="ORIGINALWIDTH" val="64"/>
  <p:tag name="OUTPUTTYPE" val="PDF"/>
  <p:tag name="IGUANATEXVERSION" val="160"/>
  <p:tag name="LATEXADDIN" val="\documentclass{article}&#10;\usepackage{amsmath}&#10;\usepackage{amsfonts}&#10;&#10;\pagestyle{empty}&#10;&#10;\begin{document}&#10;&#10;\begin{equation*}&#10;P :  \mathbb{R}^{n_\phi} \rightarrow \mathbb{R}^{n_\theta} \\&#10;\end{equation*}&#10;&#10;\end{document}"/>
  <p:tag name="IGUANATEXSIZE" val="18"/>
  <p:tag name="IGUANATEXCURSOR" val="180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66"/>
  <p:tag name="OUTPUTTYPE" val="PDF"/>
  <p:tag name="IGUANATEXVERSION" val="160"/>
  <p:tag name="LATEXADDIN" val="\documentclass{article}&#10;\usepackage{amsmath}&#10;\usepackage{amsfonts}&#10;&#10;\newcommand{\seq}[1]{{\mathbf{#1}}}&#10;\newcommand{\redpar}{\phi}&#10;\newcommand{\projpar}{\gamma}&#10;\newcommand{\R}{\mathbb{R}}&#10;&#10;\pagestyle{empty}&#10;&#10;\begin{document}&#10;&#10;\begin{equation*}&#10;\hat {\seq{y}} = F(\seq{u}; P(\redpar))&#10;\end{equation*}&#10;&#10;\end{document}"/>
  <p:tag name="IGUANATEXSIZE" val="18"/>
  <p:tag name="IGUANATEXCURSOR" val="274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"/>
  <p:tag name="ORIGINALWIDTH" val="130"/>
  <p:tag name="OUTPUTTYPE" val="PDF"/>
  <p:tag name="IGUANATEXVERSION" val="160"/>
  <p:tag name="LATEXADDIN" val="\documentclass{article}&#10;\usepackage{amsmath}&#10;\usepackage{amsfonts}&#10;\newcommand{\seq}[1]{{\mathbf{#1}}}&#10;\newcommand{\redpar}{\phi}&#10;\newcommand{\projpar}{\gamma}&#10;\newcommand{\R}{\mathbb{R}}&#10;&#10;&#10;\pagestyle{empty}&#10;&#10;\begin{document}&#10;&#10;\begin{equation*}&#10;\hat \phi = \arg \min_\phi \mathcal{L}(\seq{y}^*, F(\seq{u}^*; P (\phi))&#10;\end{equation*}&#10;&#10;\end{document}"/>
  <p:tag name="IGUANATEXSIZE" val="18"/>
  <p:tag name="IGUANATEXCURSOR" val="309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59"/>
  <p:tag name="OUTPUTTYPE" val="PDF"/>
  <p:tag name="IGUANATEXVERSION" val="160"/>
  <p:tag name="LATEXADDIN" val="\documentclass{article}&#10;\usepackage{amsmath}&#10;\usepackage{amsfonts}&#10;&#10;\pagestyle{empty}&#10;&#10;\begin{document}&#10;&#10;\begin{equation*}&#10;D^* = (\mathbf{u}^*, \mathbf{y}^*)&#10;\end{equation*}&#10;&#10;\end{document}"/>
  <p:tag name="IGUANATEXSIZE" val="18"/>
  <p:tag name="IGUANATEXCURSOR" val="157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"/>
  <p:tag name="ORIGINALWIDTH" val="62"/>
  <p:tag name="OUTPUTTYPE" val="PDF"/>
  <p:tag name="IGUANATEXVERSION" val="160"/>
  <p:tag name="LATEXADDIN" val="\documentclass{article}&#10;\usepackage{amsmath}&#10;\usepackage{amsfonts}&#10;&#10;\newcommand{\DD}{\mathcal{D}}&#10;\newcommand{\N}{\mathbb{N}}&#10;\newcommand{\ii}{{(i)}}&#10;\newcommand{\seq}[1]{{\mathbf{#1}}}&#10;&#10;\pagestyle{empty}&#10;&#10;\begin{document}&#10;&#10;\begin{equation*}  &#10;\label{eq:dataset_stream}&#10;\DD=\{D^\ii\}_{i\in\N}&#10;\end{equation*}&#10;&#10;\end{document}"/>
  <p:tag name="IGUANATEXSIZE" val="18"/>
  <p:tag name="IGUANATEXCURSOR" val="292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106"/>
  <p:tag name="OUTPUTTYPE" val="PDF"/>
  <p:tag name="IGUANATEXVERSION" val="160"/>
  <p:tag name="LATEXADDIN" val="\documentclass{article}&#10;\usepackage{amsmath}&#10;\usepackage{amsfonts}&#10;&#10;\pagestyle{empty}&#10;&#10;\begin{document}&#10;&#10;\begin{equation*}&#10;P :  \mathbb{R}^{n_\phi} \rightarrow \mathbb{R}^{n_\theta}, n_\phi \ll n_\theta&#10;\end{equation*}&#10;&#10;\end{document}"/>
  <p:tag name="IGUANATEXSIZE" val="18"/>
  <p:tag name="IGUANATEXCURSOR" val="202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59"/>
  <p:tag name="OUTPUTTYPE" val="PDF"/>
  <p:tag name="IGUANATEXVERSION" val="160"/>
  <p:tag name="LATEXADDIN" val="\documentclass{article}&#10;\usepackage{amsmath}&#10;\usepackage{amsfonts}&#10;&#10;\pagestyle{empty}&#10;&#10;\begin{document}&#10;&#10;\begin{equation*}&#10;D^* = (\mathbf{u}^*, \mathbf{y}^*)&#10;\end{equation*}&#10;&#10;\end{document}"/>
  <p:tag name="IGUANATEXSIZE" val="18"/>
  <p:tag name="IGUANATEXCURSOR" val="157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107"/>
  <p:tag name="OUTPUTTYPE" val="PDF"/>
  <p:tag name="IGUANATEXVERSION" val="160"/>
  <p:tag name="LATEXADDIN" val="\documentclass{article}&#10;\usepackage{amsmath}&#10;\usepackage{amsfonts}&#10;\newcommand{\base}{{base architecture}}&#10;\newcommand{\ii}{{(i)}}&#10;\newcommand{\tr}{\mathrm{tr}}&#10;\newcommand{\te}{\mathrm{te}}&#10;\newcommand{\norm}[1]{\left\lVert#1\right\rVert}&#10;\newcommand{\abs}[1]{\left\lvert#1\right\rvert}&#10;\newcommand{\seq}[1]{{\mathbf{#1}}}&#10;\newcommand{\R}{\mathbb{R}}&#10;\newcommand{\D}{D}&#10;\newcommand{\E}{\mathbb{E}} % expectation&#10;\newcommand{\nsamp}{N}&#10;\newcommand{\sys}{S}&#10;\newcommand{\npar}{n}&#10;\newcommand{\nsvd}{r}&#10;\newcommand{\latent}{z}&#10;\newcommand{\fullpar}{\theta}&#10;\newcommand{\Fullpar}{\Theta}&#10;\newcommand{\redpar}{\phi}&#10;\newcommand{\projpar}{\gamma}&#10;\newcommand{\encpar}{\psi}&#10;\newcommand{\Redpar}{\Phi}&#10;\newcommand{\diag}{\mathrm{diag}}&#10;\newcommand{\loss}{\mathcal{L}}&#10;\newtheorem{remark}{Remark}%[section]&#10;&#10;\newcommand{\AB}[1]{\textbf{\color{magenta}{[AB: #1]}}}&#10;\newcommand{\DD}{\mathcal{D}}&#10;\newcommand{\N}{\mathbb{N}}&#10;\pagestyle{empty}&#10;&#10;\begin{document}&#10;&#10;\begin{equation*}&#10;P_\projpar :  \mathbb{R}^{n_\phi} \rightarrow \mathbb{R}^{n_\theta}, &#10;\projpar \in \mathbb{R}^{n_\projpar} &#10;\end{equation*}&#10;&#10;\end{document}"/>
  <p:tag name="IGUANATEXSIZE" val="18"/>
  <p:tag name="IGUANATEXCURSOR" val="1048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"/>
  <p:tag name="ORIGINALWIDTH" val="136"/>
  <p:tag name="OUTPUTTYPE" val="PDF"/>
  <p:tag name="IGUANATEXVERSION" val="160"/>
  <p:tag name="LATEXADDIN" val="\documentclass{article}&#10;\usepackage{amsmath}&#10;\usepackage{amsfonts}&#10;&#10;\newcommand{\base}{{base architecture}}&#10;\newcommand{\ii}{{(i)}}&#10;\newcommand{\tr}{\mathrm{tr}}&#10;\newcommand{\te}{\mathrm{te}}&#10;\newcommand{\norm}[1]{\left\lVert#1\right\rVert}&#10;\newcommand{\abs}[1]{\left\lvert#1\right\rvert}&#10;\newcommand{\seq}[1]{{\mathbf{#1}}}&#10;\newcommand{\R}{\mathbb{R}}&#10;\newcommand{\D}{D}&#10;\newcommand{\E}{\mathbb{E}} % expectation&#10;\newcommand{\nsamp}{N}&#10;\newcommand{\sys}{S}&#10;\newcommand{\npar}{n}&#10;\newcommand{\nsvd}{r}&#10;\newcommand{\latent}{z}&#10;\newcommand{\fullpar}{\theta}&#10;\newcommand{\Fullpar}{\Theta}&#10;\newcommand{\redpar}{\phi}&#10;\newcommand{\projpar}{\gamma}&#10;\newcommand{\encpar}{\psi}&#10;\newcommand{\Redpar}{\Phi}&#10;\newcommand{\diag}{\mathrm{diag}}&#10;\newcommand{\loss}{\mathcal{L}}&#10;\newtheorem{remark}{Remark}%[section]&#10;&#10;\newcommand{\AB}[1]{\textbf{\color{magenta}{[AB: #1]}}}&#10;\newcommand{\DD}{\mathcal{D}}&#10;\newcommand{\N}{\mathbb{N}}&#10;&#10;\pagestyle{empty}&#10;&#10;\begin{document}&#10;&#10;\begin{align*}&#10;\hat \projpar &amp;= \arg \min_{\projpar} \E_{p(\D)}&#10;\big [ \loss({\seq y}_\te, \hat {\seq y}_\te) \big ]\\&#10;\hat{\seq{y}}_\te  &amp;= F\left(&#10;  \seq{u}_\te ; \,&#10;  P_{\projpar} ( \hat \redpar  )&#10;\right)\\&#10;  \hat \redpar &amp;=&#10;  \text{SYSID}(\seq u_\tr , \seq y_\tr; \projpar )&#10;\end{align*}&#10;&#10;\end{document}"/>
  <p:tag name="IGUANATEXSIZE" val="18"/>
  <p:tag name="IGUANATEXCURSOR" val="1231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"/>
  <p:tag name="ORIGINALWIDTH" val="210"/>
  <p:tag name="OUTPUTTYPE" val="PDF"/>
  <p:tag name="IGUANATEXVERSION" val="160"/>
  <p:tag name="LATEXADDIN" val="\documentclass{article}&#10;\usepackage{amsmath}&#10;\usepackage{amsfonts}&#10;&#10;\newcommand{\base}{{base architecture}}&#10;\newcommand{\ii}{{(i)}}&#10;\newcommand{\tr}{\mathrm{tr}}&#10;\newcommand{\te}{\mathrm{te}}&#10;\newcommand{\norm}[1]{\left\lVert#1\right\rVert}&#10;\newcommand{\abs}[1]{\left\lvert#1\right\rvert}&#10;\newcommand{\seq}[1]{{\mathbf{#1}}}&#10;\newcommand{\R}{\mathbb{R}}&#10;\newcommand{\D}{D}&#10;\newcommand{\E}{\mathbb{E}} % expectation&#10;\newcommand{\nsamp}{N}&#10;\newcommand{\sys}{S}&#10;\newcommand{\npar}{n}&#10;\newcommand{\nsvd}{r}&#10;\newcommand{\latent}{z}&#10;\newcommand{\fullpar}{\theta}&#10;\newcommand{\Fullpar}{\Theta}&#10;\newcommand{\redpar}{\phi}&#10;\newcommand{\projpar}{\gamma}&#10;\newcommand{\encpar}{\psi}&#10;\newcommand{\Redpar}{\Phi}&#10;\newcommand{\diag}{\mathrm{diag}}&#10;\newcommand{\loss}{\mathcal{L}}&#10;\newtheorem{remark}{Remark}%[section]&#10;&#10;\newcommand{\AB}[1]{\textbf{\color{magenta}{[AB: #1]}}}&#10;\newcommand{\DD}{\mathcal{D}}&#10;\newcommand{\N}{\mathbb{N}}&#10;&#10;\pagestyle{empty}&#10;&#10;\begin{document}&#10;&#10;\begin{equation*}&#10;\text{SYSID}(\seq u_\tr , \seq y_\tr; \projpar ) = \arg \min_\phi \loss(\seq y_\tr,&#10;F(\seq u_\tr; P_\gamma(\phi))&#10;\end{equation*}&#10;&#10;\end{document}"/>
  <p:tag name="IGUANATEXSIZE" val="18"/>
  <p:tag name="IGUANATEXCURSOR" val="1018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"/>
  <p:tag name="ORIGINALWIDTH" val="180"/>
  <p:tag name="OUTPUTTYPE" val="PDF"/>
  <p:tag name="IGUANATEXVERSION" val="160"/>
  <p:tag name="LATEXADDIN" val="\documentclass{article}&#10;\usepackage{amsmath}&#10;\usepackage{amsfonts}&#10;&#10;\newcommand{\base}{{base architecture}}&#10;\newcommand{\ii}{{(i)}}&#10;\newcommand{\tr}{\mathrm{tr}}&#10;\newcommand{\te}{\mathrm{te}}&#10;\newcommand{\norm}[1]{\left\lVert#1\right\rVert}&#10;\newcommand{\abs}[1]{\left\lvert#1\right\rvert}&#10;\newcommand{\seq}[1]{{\mathbf{#1}}}&#10;\newcommand{\R}{\mathbb{R}}&#10;\newcommand{\D}{D}&#10;\newcommand{\E}{\mathbb{E}} % expectation&#10;\newcommand{\nsamp}{N}&#10;\newcommand{\sys}{S}&#10;\newcommand{\npar}{n}&#10;\newcommand{\nsvd}{r}&#10;\newcommand{\latent}{z}&#10;\newcommand{\fullpar}{\theta}&#10;\newcommand{\Fullpar}{\Theta}&#10;\newcommand{\redpar}{\phi}&#10;\newcommand{\projpar}{\gamma}&#10;\newcommand{\encpar}{\psi}&#10;\newcommand{\Redpar}{\Phi}&#10;\newcommand{\diag}{\mathrm{diag}}&#10;\newcommand{\loss}{\mathcal{L}}&#10;\newtheorem{remark}{Remark}%[section]&#10;&#10;\newcommand{\AB}[1]{\textbf{\color{magenta}{[AB: #1]}}}&#10;\newcommand{\DD}{\mathcal{D}}&#10;\newcommand{\N}{\mathbb{N}}&#10;&#10;\pagestyle{empty}&#10;&#10;\begin{document}&#10;&#10;\begin{equation*}&#10;D^\ii = (\seq{u}^\ii_\tr , \seq{y}^\ii_\tr ), (\seq{u}^\ii_\te , \seq{y}^\ii_\te ),\, i=1,2,\dots,&#10;\end{equation*}&#10;&#10;\end{document}"/>
  <p:tag name="IGUANATEXSIZE" val="18"/>
  <p:tag name="IGUANATEXCURSOR" val="972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1"/>
  <p:tag name="ORIGINALWIDTH" val="149"/>
  <p:tag name="OUTPUTTYPE" val="PDF"/>
  <p:tag name="IGUANATEXVERSION" val="160"/>
  <p:tag name="LATEXADDIN" val="\documentclass{article}&#10;\usepackage{amsmath}&#10;\usepackage{amsfonts}&#10;&#10;\newcommand{\base}{{base architecture}}&#10;\newcommand{\ii}{{(i)}}&#10;\newcommand{\tr}{\mathrm{tr}}&#10;\newcommand{\te}{\mathrm{te}}&#10;\newcommand{\norm}[1]{\left\lVert#1\right\rVert}&#10;\newcommand{\abs}[1]{\left\lvert#1\right\rvert}&#10;\newcommand{\seq}[1]{{\mathbf{#1}}}&#10;\newcommand{\R}{\mathbb{R}}&#10;\newcommand{\D}{D}&#10;\newcommand{\E}{\mathbb{E}} % expectation&#10;\newcommand{\nsamp}{N}&#10;\newcommand{\sys}{S}&#10;\newcommand{\npar}{n}&#10;\newcommand{\nsvd}{r}&#10;\newcommand{\latent}{z}&#10;\newcommand{\fullpar}{\theta}&#10;\newcommand{\Fullpar}{\Theta}&#10;\newcommand{\redpar}{\phi}&#10;\newcommand{\projpar}{\gamma}&#10;\newcommand{\encpar}{\psi}&#10;\newcommand{\Redpar}{\Phi}&#10;\newcommand{\diag}{\mathrm{diag}}&#10;\newcommand{\loss}{\mathcal{L}}&#10;\newtheorem{remark}{Remark}%[section]&#10;&#10;\newcommand{\AB}[1]{\textbf{\color{magenta}{[AB: #1]}}}&#10;\newcommand{\DD}{\mathcal{D}}&#10;\newcommand{\N}{\mathbb{N}}&#10;&#10;\pagestyle{empty}&#10;&#10;\begin{document}&#10;&#10;\begin{align*}&#10;\hat \projpar, \hat \encpar &amp;= \arg \min_{\projpar, \encpar} \E_{p(\D)} &#10;\overbrace{\big [ \loss({\seq y}_\te, \hat {\seq y}_\te,) \big ]}^{J(\gamma, \psi)} \label{eq:hypernet_a}\\&#10;\hat{\seq{y}}_\te  &amp;= F\left(&#10;  \seq{u}_\te ; \,&#10;  P_{\projpar} ( \hat \redpar )&#10;\right) \\&#10;  \hat \redpar &amp;=&#10;  E_{\psi}(\seq u_\tr , \seq y_\tr )&#10;\end{align*}&#10;&#10;\end{document}"/>
  <p:tag name="IGUANATEXSIZE" val="18"/>
  <p:tag name="IGUANATEXCURSOR" val="1296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"/>
  <p:tag name="ORIGINALWIDTH" val="8"/>
  <p:tag name="OUTPUTTYPE" val="PDF"/>
  <p:tag name="IGUANATEXVERSION" val="160"/>
  <p:tag name="LATEXADDIN" val="\documentclass{article}&#10;\usepackage{amsmath}&#10;\usepackage{amsfonts}&#10;&#10;\newcommand{\base}{{base architecture}}&#10;\newcommand{\ii}{{(i)}}&#10;\newcommand{\tr}{\mathrm{tr}}&#10;\newcommand{\te}{\mathrm{te}}&#10;\newcommand{\norm}[1]{\left\lVert#1\right\rVert}&#10;\newcommand{\abs}[1]{\left\lvert#1\right\rvert}&#10;\newcommand{\seq}[1]{{\mathbf{#1}}}&#10;\newcommand{\R}{\mathbb{R}}&#10;\newcommand{\D}{D}&#10;\newcommand{\E}{\mathbb{E}} % expectation&#10;\newcommand{\nsamp}{N}&#10;\newcommand{\sys}{S}&#10;\newcommand{\npar}{n}&#10;\newcommand{\nsvd}{r}&#10;\newcommand{\latent}{z}&#10;\newcommand{\fullpar}{\theta}&#10;\newcommand{\Fullpar}{\Theta}&#10;\newcommand{\redpar}{\phi}&#10;\newcommand{\projpar}{\gamma}&#10;\newcommand{\encpar}{\psi}&#10;\newcommand{\Redpar}{\Phi}&#10;\newcommand{\diag}{\mathrm{diag}}&#10;\newcommand{\loss}{\mathcal{L}}&#10;\newtheorem{remark}{Remark}%[section]&#10;&#10;\newcommand{\AB}[1]{\textbf{\color{magenta}{[AB: #1]}}}&#10;\newcommand{\DD}{\mathcal{D}}&#10;\newcommand{\N}{\mathbb{N}}&#10;&#10;\pagestyle{empty}&#10;&#10;\begin{document}&#10;&#10;\begin{align*}&#10;\DD&#10;\end{align*}&#10;&#10;\end{document}"/>
  <p:tag name="IGUANATEXSIZE" val="18"/>
  <p:tag name="IGUANATEXCURSOR" val="972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"/>
  <p:tag name="ORIGINALWIDTH" val="219"/>
  <p:tag name="OUTPUTTYPE" val="PDF"/>
  <p:tag name="IGUANATEXVERSION" val="160"/>
  <p:tag name="LATEXADDIN" val="\documentclass{article}&#10;\usepackage{amsmath}&#10;\usepackage{amsfonts}&#10;&#10;\newcommand{\base}{{base architecture}}&#10;\newcommand{\ii}{{(i)}}&#10;\newcommand{\tr}{\mathrm{tr}}&#10;\newcommand{\te}{\mathrm{te}}&#10;\newcommand{\norm}[1]{\left\lVert#1\right\rVert}&#10;\newcommand{\abs}[1]{\left\lvert#1\right\rvert}&#10;\newcommand{\seq}[1]{{\mathbf{#1}}}&#10;\newcommand{\R}{\mathbb{R}}&#10;\newcommand{\D}{D}&#10;\newcommand{\E}{\mathbb{E}} % expectation&#10;\newcommand{\nsamp}{N}&#10;\newcommand{\sys}{S}&#10;\newcommand{\npar}{n}&#10;\newcommand{\nsvd}{r}&#10;\newcommand{\latent}{z}&#10;\newcommand{\fullpar}{\theta}&#10;\newcommand{\Fullpar}{\Theta}&#10;\newcommand{\redpar}{\phi}&#10;\newcommand{\projpar}{\gamma}&#10;\newcommand{\encpar}{\psi}&#10;\newcommand{\Redpar}{\Phi}&#10;\newcommand{\diag}{\mathrm{diag}}&#10;\newcommand{\loss}{\mathcal{L}}&#10;\newtheorem{remark}{Remark}%[section]&#10;&#10;\newcommand{\AB}[1]{\textbf{\color{magenta}{[AB: #1]}}}&#10;\newcommand{\DD}{\mathcal{D}}&#10;\newcommand{\N}{\mathbb{N}}&#10;&#10;\pagestyle{empty}&#10;&#10;\begin{document}&#10;&#10;\begin{equation*}&#10;    \tilde J(\gamma, \psi) = \frac{1}{b} \sum_{i=1}^b \loss\bigg(\seq y_\te^\ii, F\big(\seq u_\te^\ii, P_\projpar(E_\psi(\seq u_\tr^\ii, \seq y_\tr^\ii)\big ) \bigg)&#10;\end{equation*}&#10;&#10;\end{document}"/>
  <p:tag name="IGUANATEXSIZE" val="18"/>
  <p:tag name="IGUANATEXCURSOR" val="1152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"/>
  <p:tag name="ORIGINALWIDTH" val="225"/>
  <p:tag name="OUTPUTTYPE" val="PDF"/>
  <p:tag name="IGUANATEXVERSION" val="160"/>
  <p:tag name="LATEXADDIN" val="\documentclass{article}&#10;\usepackage{amsmath}&#10;\usepackage{amsfonts}&#10;&#10;\newcommand{\base}{{base architecture}}&#10;\newcommand{\ii}{{(i)}}&#10;\newcommand{\tr}{\mathrm{tr}}&#10;\newcommand{\te}{\mathrm{te}}&#10;\newcommand{\norm}[1]{\left\lVert#1\right\rVert}&#10;\newcommand{\abs}[1]{\left\lvert#1\right\rvert}&#10;\newcommand{\seq}[1]{{\mathbf{#1}}}&#10;\newcommand{\R}{\mathbb{R}}&#10;\newcommand{\D}{D}&#10;\newcommand{\E}{\mathbb{E}} % expectation&#10;\newcommand{\nsamp}{N}&#10;\newcommand{\sys}{S}&#10;\newcommand{\npar}{n}&#10;\newcommand{\nsvd}{r}&#10;\newcommand{\latent}{z}&#10;\newcommand{\fullpar}{\theta}&#10;\newcommand{\Fullpar}{\Theta}&#10;\newcommand{\redpar}{\phi}&#10;\newcommand{\projpar}{\gamma}&#10;\newcommand{\encpar}{\psi}&#10;\newcommand{\Redpar}{\Phi}&#10;\newcommand{\diag}{\mathrm{diag}}&#10;\newcommand{\loss}{\mathcal{L}}&#10;\newtheorem{remark}{Remark}%[section]&#10;&#10;\newcommand{\AB}[1]{\textbf{\color{magenta}{[AB: #1]}}}&#10;\newcommand{\DD}{\mathcal{D}}&#10;\newcommand{\N}{\mathbb{N}}&#10;&#10;\pagestyle{empty}&#10;&#10;\begin{document}&#10;&#10;\begin{align*}&#10;%\overbrace{&#10;\begin{bmatrix} &#10;\dot{p}(t) \\ &#10;\dot{v}(t) \\ &#10;\dot{z}(t) &#10;\end{bmatrix}&#10;%}^{x(t)}&#10;&amp;=&#10;\begin{bmatrix} &#10;v(t) \\ &#10;\frac{1}{m_L} \left (u(t) -k_L p(t) - c_L v(t) - z(t)  \right) \\ &#10;\alpha v(t) - \beta(\gamma |v(t)| |z(t)|^{\nu -1} + \delta v(t) |z(t)|^\nu)&#10;\end{bmatrix}\\&#10;y(t) &amp;= p(t),&#10;\end{align*}&#10;&#10;\end{document}"/>
  <p:tag name="IGUANATEXSIZE" val="18"/>
  <p:tag name="IGUANATEXCURSOR" val="1280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"/>
  <p:tag name="ORIGINALWIDTH" val="160"/>
  <p:tag name="OUTPUTTYPE" val="PDF"/>
  <p:tag name="IGUANATEXVERSION" val="160"/>
  <p:tag name="LATEXADDIN" val="\documentclass{article}&#10;\usepackage{amsmath}&#10;\usepackage{amsfonts}&#10;&#10;\newcommand{\base}{{base architecture}}&#10;\newcommand{\ii}{{(i)}}&#10;\newcommand{\tr}{\mathrm{tr}}&#10;\newcommand{\te}{\mathrm{te}}&#10;\newcommand{\norm}[1]{\left\lVert#1\right\rVert}&#10;\newcommand{\abs}[1]{\left\lvert#1\right\rvert}&#10;\newcommand{\seq}[1]{{\mathbf{#1}}}&#10;\newcommand{\R}{\mathbb{R}}&#10;\newcommand{\D}{D}&#10;\newcommand{\E}{\mathbb{E}} % expectation&#10;\newcommand{\nsamp}{N}&#10;\newcommand{\sys}{S}&#10;\newcommand{\npar}{n}&#10;\newcommand{\nsvd}{r}&#10;\newcommand{\latent}{z}&#10;\newcommand{\fullpar}{\theta}&#10;\newcommand{\Fullpar}{\Theta}&#10;\newcommand{\redpar}{\phi}&#10;\newcommand{\projpar}{\gamma}&#10;\newcommand{\encpar}{\psi}&#10;\newcommand{\Redpar}{\Phi}&#10;\newcommand{\diag}{\mathrm{diag}}&#10;\newcommand{\loss}{\mathcal{L}}&#10;\newtheorem{remark}{Remark}%[section]&#10;&#10;\newcommand{\AB}[1]{\textbf{\color{magenta}{[AB: #1]}}}&#10;\newcommand{\DD}{\mathcal{D}}&#10;\newcommand{\N}{\mathbb{N}}&#10;&#10;\pagestyle{empty}&#10;&#10;\begin{document}&#10;&#10;\begin{align*}&#10;    x_{k+1} &amp;= A x_k + B u_x + N_f(x_k, u_k; W_f) \\&#10;    y_{k} &amp;= C x_k +  N_g(x_k; W_g),&#10;\end{align*}&#10;&#10;\end{document}"/>
  <p:tag name="IGUANATEXSIZE" val="18"/>
  <p:tag name="IGUANATEXCURSOR" val="1058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"/>
  <p:tag name="ORIGINALWIDTH" val="238"/>
  <p:tag name="OUTPUTTYPE" val="PDF"/>
  <p:tag name="IGUANATEXVERSION" val="160"/>
  <p:tag name="LATEXADDIN" val="\documentclass{article}&#10;\usepackage{amsmath}&#10;\usepackage{amsfonts}&#10;\usepackage{booktabs}&#10;&#10;\newcommand{\base}{{base architecture}}&#10;\newcommand{\ii}{{(i)}}&#10;\newcommand{\tr}{\mathrm{tr}}&#10;\newcommand{\te}{\mathrm{te}}&#10;\newcommand{\norm}[1]{\left\lVert#1\right\rVert}&#10;\newcommand{\abs}[1]{\left\lvert#1\right\rvert}&#10;\newcommand{\seq}[1]{{\mathbf{#1}}}&#10;\newcommand{\R}{\mathbb{R}}&#10;\newcommand{\D}{D}&#10;\newcommand{\E}{\mathbb{E}} % expectation&#10;\newcommand{\nsamp}{N}&#10;\newcommand{\sys}{S}&#10;\newcommand{\npar}{n}&#10;\newcommand{\nsvd}{r}&#10;\newcommand{\latent}{z}&#10;\newcommand{\fullpar}{\theta}&#10;\newcommand{\Fullpar}{\Theta}&#10;\newcommand{\redpar}{\phi}&#10;\newcommand{\projpar}{\gamma}&#10;\newcommand{\encpar}{\psi}&#10;\newcommand{\Redpar}{\Phi}&#10;\newcommand{\diag}{\mathrm{diag}}&#10;\newcommand{\loss}{\mathcal{L}}&#10;\newtheorem{remark}{Remark}%[section]&#10;&#10;\newcommand{\AB}[1]{\textbf{\color{magenta}{[AB: #1]}}}&#10;\newcommand{\DD}{\mathcal{D}}&#10;\newcommand{\N}{\mathbb{N}}&#10;&#10;\pagestyle{empty}&#10;&#10;\begin{document}&#10;&#10;\begin{table}[!ht]&#10;\setlength{\tabcolsep}{4pt}&#10;\centering&#10;\caption{Coefficients of the Bouc-Wen system.}&#10;\small&#10;\begin{tabular}{c||cccccccc}&#10;\toprule&#10; &amp; $m_L$ &amp; $c_L$ &amp; $k_L$ &amp; $\alpha$ &amp; $\beta$ &amp; $\gamma$ &amp; $\delta$ &amp;$\nu$\\&#10;\midrule&#10;nom &amp; 2 &amp; 10 &amp;$5.0\times 10^4$ &amp; $5.0\times 10^4$ &amp; 1000 &amp; 0.8 &amp; -1.1 &amp; 1\\&#10;min &amp; 1 &amp; 5 &amp; $2.5\times 10^4$ &amp; $2.5\times 10^4$ &amp; $500$ &amp; 0.5 &amp; -1.5 &amp;1\\&#10;max &amp; 3 &amp; 15 &amp; $7.5\times 10^4$ &amp; $7.5\times 10^4$ &amp; 4500 &amp; 0.9 &amp; -0.5 &amp;1\\&#10;\bottomrule&#10;\end{tabular} &#10;\end{table}&#10;&#10;\end{document}"/>
  <p:tag name="IGUANATEXSIZE" val="18"/>
  <p:tag name="IGUANATEXCURSOR" val="1079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"/>
  <p:tag name="ORIGINALWIDTH" val="113"/>
  <p:tag name="OUTPUTTYPE" val="PDF"/>
  <p:tag name="IGUANATEXVERSION" val="160"/>
  <p:tag name="LATEXADDIN" val="\documentclass{article}&#10;\usepackage{amsmath}&#10;\usepackage{amsfonts}&#10;\newcommand{\seq}[1]{{\mathbf{#1}}}&#10;\newcommand{\redpar}{\phi}&#10;\newcommand{\projpar}{\gamma}&#10;\newcommand{\R}{\mathbb{R}}&#10;&#10;&#10;\pagestyle{empty}&#10;&#10;\begin{document}&#10;&#10;\begin{equation*}&#10;\hat \theta = \arg \min_\theta \mathcal{L}(\seq{y}^*, F(\seq{u}^*; \theta)&#10;\end{equation*}&#10;&#10;\end{document}"/>
  <p:tag name="IGUANATEXSIZE" val="18"/>
  <p:tag name="IGUANATEXCURSOR" val="318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"/>
  <p:tag name="ORIGINALWIDTH" val="73"/>
  <p:tag name="OUTPUTTYPE" val="PDF"/>
  <p:tag name="IGUANATEXVERSION" val="160"/>
  <p:tag name="LATEXADDIN" val="\documentclass{article}&#10;\usepackage{amsmath}&#10;\usepackage{amsfonts}&#10;\newcommand{\seq}[1]{{\mathbf{#1}}}&#10;\newcommand{\redpar}{\phi}&#10;\newcommand{\projpar}{\gamma}&#10;\newcommand{\R}{\mathbb{R}}&#10;\newcommand{\loss}{\mathcal{L}}&#10;&#10;&#10;\pagestyle{empty}&#10;&#10;\begin{document}&#10;&#10;\begin{equation*}&#10;H(\hat \theta) = \left . \frac{\partial^2 \loss}{\partial \theta^2} \right |_{\theta = \hat \theta}&#10;\end{equation*}&#10;&#10;\end{document}"/>
  <p:tag name="IGUANATEXSIZE" val="18"/>
  <p:tag name="IGUANATEXCURSOR" val="375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"/>
  <p:tag name="ORIGINALWIDTH" val="136"/>
  <p:tag name="OUTPUTTYPE" val="PDF"/>
  <p:tag name="IGUANATEXVERSION" val="160"/>
  <p:tag name="LATEXADDIN" val="\documentclass{article}&#10;\usepackage{amsmath}&#10;\usepackage{amsfonts}&#10;&#10;\newcommand{\base}{{base architecture}}&#10;\newcommand{\ii}{{(i)}}&#10;\newcommand{\tr}{\mathrm{tr}}&#10;\newcommand{\te}{\mathrm{te}}&#10;\newcommand{\norm}[1]{\left\lVert#1\right\rVert}&#10;\newcommand{\abs}[1]{\left\lvert#1\right\rvert}&#10;\newcommand{\seq}[1]{{\mathbf{#1}}}&#10;\newcommand{\R}{\mathbb{R}}&#10;\newcommand{\D}{D}&#10;\newcommand{\E}{\mathbb{E}} % expectation&#10;\newcommand{\nsamp}{N}&#10;\newcommand{\sys}{S}&#10;\newcommand{\npar}{n}&#10;\newcommand{\nsvd}{r}&#10;\newcommand{\latent}{z}&#10;\newcommand{\fullpar}{\theta}&#10;\newcommand{\Fullpar}{\Theta}&#10;\newcommand{\redpar}{\phi}&#10;\newcommand{\projpar}{\gamma}&#10;\newcommand{\encpar}{\psi}&#10;\newcommand{\Redpar}{\Phi}&#10;\newcommand{\diag}{\mathrm{diag}}&#10;\newcommand{\loss}{\mathcal{L}}&#10;\newtheorem{remark}{Remark}%[section]&#10;&#10;\newcommand{\AB}[1]{\textbf{\color{magenta}{[AB: #1]}}}&#10;\newcommand{\DD}{\mathcal{D}}&#10;\newcommand{\N}{\mathbb{N}}&#10;&#10;\pagestyle{empty}&#10;&#10;\begin{document}&#10;&#10;\begin{align*}&#10;\hat \projpar &amp;= \arg \min_{\projpar} \E_{p(\D)}&#10;\big [ \loss({\seq y}_\te, \hat {\seq y}_\te) \big ]\\&#10;\hat{\seq{y}}_\te  &amp;= F\left(&#10;  \seq{u}_\te ; \,&#10;  P_{\projpar} ( \hat \redpar  )&#10;\right)\\&#10;  \hat \redpar &amp;=&#10;  \text{SYSID}(\seq u_\tr , \seq y_\tr; \projpar )&#10;\end{align*}&#10;&#10;\end{document}"/>
  <p:tag name="IGUANATEXSIZE" val="18"/>
  <p:tag name="IGUANATEXCURSOR" val="1231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1"/>
  <p:tag name="ORIGINALWIDTH" val="149"/>
  <p:tag name="OUTPUTTYPE" val="PDF"/>
  <p:tag name="IGUANATEXVERSION" val="160"/>
  <p:tag name="LATEXADDIN" val="\documentclass{article}&#10;\usepackage{amsmath}&#10;\usepackage{amsfonts}&#10;&#10;\newcommand{\base}{{base architecture}}&#10;\newcommand{\ii}{{(i)}}&#10;\newcommand{\tr}{\mathrm{tr}}&#10;\newcommand{\te}{\mathrm{te}}&#10;\newcommand{\norm}[1]{\left\lVert#1\right\rVert}&#10;\newcommand{\abs}[1]{\left\lvert#1\right\rvert}&#10;\newcommand{\seq}[1]{{\mathbf{#1}}}&#10;\newcommand{\R}{\mathbb{R}}&#10;\newcommand{\D}{D}&#10;\newcommand{\E}{\mathbb{E}} % expectation&#10;\newcommand{\nsamp}{N}&#10;\newcommand{\sys}{S}&#10;\newcommand{\npar}{n}&#10;\newcommand{\nsvd}{r}&#10;\newcommand{\latent}{z}&#10;\newcommand{\fullpar}{\theta}&#10;\newcommand{\Fullpar}{\Theta}&#10;\newcommand{\redpar}{\phi}&#10;\newcommand{\projpar}{\gamma}&#10;\newcommand{\encpar}{\psi}&#10;\newcommand{\Redpar}{\Phi}&#10;\newcommand{\diag}{\mathrm{diag}}&#10;\newcommand{\loss}{\mathcal{L}}&#10;\newtheorem{remark}{Remark}%[section]&#10;&#10;\newcommand{\AB}[1]{\textbf{\color{magenta}{[AB: #1]}}}&#10;\newcommand{\DD}{\mathcal{D}}&#10;\newcommand{\N}{\mathbb{N}}&#10;&#10;\pagestyle{empty}&#10;&#10;\begin{document}&#10;&#10;\begin{align*}&#10;\hat \projpar, \hat \encpar &amp;= \arg \min_{\projpar, \encpar} \E_{p(\D)} &#10;\overbrace{\big [ \loss({\seq y}_\te, \hat {\seq y}_\te,) \big ]}^{J(\gamma, \psi)} \label{eq:hypernet_a}\\&#10;\hat{\seq{y}}_\te  &amp;= F\left(&#10;  \seq{u}_\te ; \,&#10;  P_{\projpar} ( \hat \redpar )&#10;\right) \\&#10;  \hat \redpar &amp;=&#10;  E_{\psi}(\seq u_\tr , \seq y_\tr )&#10;\end{align*}&#10;&#10;\end{document}"/>
  <p:tag name="IGUANATEXSIZE" val="18"/>
  <p:tag name="IGUANATEXCURSOR" val="1296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heme/theme1.xml><?xml version="1.0" encoding="utf-8"?>
<a:theme xmlns:a="http://schemas.openxmlformats.org/drawingml/2006/main" name="SUPSI_DACD_CCR_2010">
  <a:themeElements>
    <a:clrScheme name="SUPSI 1">
      <a:dk1>
        <a:srgbClr val="000000"/>
      </a:dk1>
      <a:lt1>
        <a:sysClr val="window" lastClr="FFFFFF"/>
      </a:lt1>
      <a:dk2>
        <a:srgbClr val="141C64"/>
      </a:dk2>
      <a:lt2>
        <a:srgbClr val="FFFFFF"/>
      </a:lt2>
      <a:accent1>
        <a:srgbClr val="141C78"/>
      </a:accent1>
      <a:accent2>
        <a:srgbClr val="2838C8"/>
      </a:accent2>
      <a:accent3>
        <a:srgbClr val="0063C8"/>
      </a:accent3>
      <a:accent4>
        <a:srgbClr val="0096FF"/>
      </a:accent4>
      <a:accent5>
        <a:srgbClr val="46A01E"/>
      </a:accent5>
      <a:accent6>
        <a:srgbClr val="8CD23C"/>
      </a:accent6>
      <a:hlink>
        <a:srgbClr val="000000"/>
      </a:hlink>
      <a:folHlink>
        <a:srgbClr val="646464"/>
      </a:folHlink>
    </a:clrScheme>
    <a:fontScheme name="SUPSI_DSA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</a:spPr>
      <a:bodyPr lIns="0" tIns="0" rIns="0" bIns="0">
        <a:prstTxWarp prst="textNoShape">
          <a:avLst/>
        </a:prstTxWarp>
      </a:bodyPr>
      <a:lstStyle>
        <a:defPPr eaLnBrk="0" hangingPunct="0">
          <a:spcBef>
            <a:spcPct val="20000"/>
          </a:spcBef>
          <a:defRPr sz="1400" kern="0" dirty="0" smtClean="0">
            <a:latin typeface="+mn-lt"/>
            <a:ea typeface="ＭＳ Ｐゴシック" pitchFamily="-112" charset="-128"/>
            <a:cs typeface="ＭＳ Ｐゴシック" pitchFamily="-112" charset="-128"/>
          </a:defRPr>
        </a:defPPr>
      </a:lstStyle>
    </a:txDef>
  </a:objectDefaults>
  <a:extraClrSchemeLst>
    <a:extraClrScheme>
      <a:clrScheme name="SUPSI_DSA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43B4D0C91CA54E9BBFAD215D4A4FF7" ma:contentTypeVersion="18" ma:contentTypeDescription="Create a new document." ma:contentTypeScope="" ma:versionID="48c4930ddcec7bff74490998dd84a4c1">
  <xsd:schema xmlns:xsd="http://www.w3.org/2001/XMLSchema" xmlns:xs="http://www.w3.org/2001/XMLSchema" xmlns:p="http://schemas.microsoft.com/office/2006/metadata/properties" xmlns:ns2="0c05fedb-ed2a-4eb3-93de-5f5a6c97bfe0" xmlns:ns3="c69d801c-64cd-49bc-b1b3-ec2496ede094" targetNamespace="http://schemas.microsoft.com/office/2006/metadata/properties" ma:root="true" ma:fieldsID="dcb337392c8a5973c5e221652a72fbb4" ns2:_="" ns3:_="">
    <xsd:import namespace="0c05fedb-ed2a-4eb3-93de-5f5a6c97bfe0"/>
    <xsd:import namespace="c69d801c-64cd-49bc-b1b3-ec2496ede0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05fedb-ed2a-4eb3-93de-5f5a6c97bf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c321eb7-7579-4b0b-aaae-46c07e4320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9d801c-64cd-49bc-b1b3-ec2496ede094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25ad22e3-f7d4-475a-9946-b2f27a0b53ef}" ma:internalName="TaxCatchAll" ma:showField="CatchAllData" ma:web="c69d801c-64cd-49bc-b1b3-ec2496ede0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c05fedb-ed2a-4eb3-93de-5f5a6c97bfe0">
      <Terms xmlns="http://schemas.microsoft.com/office/infopath/2007/PartnerControls"/>
    </lcf76f155ced4ddcb4097134ff3c332f>
    <TaxCatchAll xmlns="c69d801c-64cd-49bc-b1b3-ec2496ede094" xsi:nil="true"/>
  </documentManagement>
</p:properties>
</file>

<file path=customXml/itemProps1.xml><?xml version="1.0" encoding="utf-8"?>
<ds:datastoreItem xmlns:ds="http://schemas.openxmlformats.org/officeDocument/2006/customXml" ds:itemID="{950C4CF8-8E6C-4481-8DE0-79509E1800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05fedb-ed2a-4eb3-93de-5f5a6c97bfe0"/>
    <ds:schemaRef ds:uri="c69d801c-64cd-49bc-b1b3-ec2496ede0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57E0BBE-38AF-4179-B401-F6E82B6A5F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62A9E72-43F2-4CCE-8F90-EBA4919DBB42}">
  <ds:schemaRefs>
    <ds:schemaRef ds:uri="http://schemas.microsoft.com/office/2006/documentManagement/types"/>
    <ds:schemaRef ds:uri="c69d801c-64cd-49bc-b1b3-ec2496ede094"/>
    <ds:schemaRef ds:uri="http://purl.org/dc/dcmitype/"/>
    <ds:schemaRef ds:uri="http://purl.org/dc/elements/1.1/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0c05fedb-ed2a-4eb3-93de-5f5a6c97bfe0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621501d2-35ec-4e2f-a943-318b0c522b25}" enabled="1" method="Standard" siteId="{832538a4-939e-4f12-952e-e33cf9e5689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Powerpoint_ST_CS_1 copia</Template>
  <TotalTime>449</TotalTime>
  <Words>852</Words>
  <Application>Microsoft Macintosh PowerPoint</Application>
  <PresentationFormat>Widescreen</PresentationFormat>
  <Paragraphs>176</Paragraphs>
  <Slides>14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ＭＳ Ｐゴシック</vt:lpstr>
      <vt:lpstr>Arial</vt:lpstr>
      <vt:lpstr>Cambria Math</vt:lpstr>
      <vt:lpstr>Times New Roman</vt:lpstr>
      <vt:lpstr>SUPSI_DACD_CCR_2010</vt:lpstr>
      <vt:lpstr>Manifold meta-learning for reduced-complexity neural system identification</vt:lpstr>
      <vt:lpstr>Motivation</vt:lpstr>
      <vt:lpstr>Motivation</vt:lpstr>
      <vt:lpstr>Motivation</vt:lpstr>
      <vt:lpstr>Framework</vt:lpstr>
      <vt:lpstr>Framework</vt:lpstr>
      <vt:lpstr>Objective</vt:lpstr>
      <vt:lpstr>Methodology</vt:lpstr>
      <vt:lpstr>Methodology</vt:lpstr>
      <vt:lpstr>Results</vt:lpstr>
      <vt:lpstr>Results</vt:lpstr>
      <vt:lpstr>Conclusions and future works</vt:lpstr>
      <vt:lpstr>Results</vt:lpstr>
      <vt:lpstr>Methodology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Utente di Microsoft Office</dc:creator>
  <cp:lastModifiedBy>Forgione Marco</cp:lastModifiedBy>
  <cp:revision>199</cp:revision>
  <dcterms:created xsi:type="dcterms:W3CDTF">2017-01-20T15:44:58Z</dcterms:created>
  <dcterms:modified xsi:type="dcterms:W3CDTF">2025-04-08T21:59:30Z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0x010100E943B4D0C91CA54E9BBFAD215D4A4FF7</vt:lpwstr>
  </property>
  <property fmtid="{D5CDD505-2E9C-101B-9397-08002B2CF9AE}" pid="3" name="MediaServiceImageTags">
    <vt:lpwstr/>
  </property>
</Properties>
</file>